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55FA7-1E73-EA4D-A43D-27591FE0F9ED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4F979-EF0C-FD47-AEC8-6C73BEF69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
• Maximum 6 slides. Do not add slides; these six are the official prelims format.
• Replace every grey hint text with your own words. Delete any hint you don't need.
• Want to use Google Slides? Upload this file to Google Drive → right-click → Open with → Google Slides.
• Share your deck as a VIEW-ONLY link (Google Slides/Drive: Share → General access: Anyone with the link → Viewer) and submit it through the prelims form (sent by email and in the official WhatsApp group).
• Deadline: 23 October 2026, 11:59 PM IST.
SLIDE 1 · TEAM
Team name, track, problem statement ID and member names. Every member must be registered individually on MLH.
Tracks: 1 Maintaining · 2 Contributing · 3 Securing · 4 Shipping · 5 Open source for Bharat
PS IDs: PS-01 Bus-Factor Map · PS-02 Community Pulse · PS-03 Commit Surgeon · PS-04 FairPlay · PS-05 Good First Issue That Is Actually Good · PS-06 Supply Chain Sentinel · PS-07 Secret Leak Guard · PS-08 Repo Doctor · PS-09 Accessibility Linter for OSS Frontends · PS-10 Open Data to Open API · PS-11 Bhasha Mentor · PS-12 IndicBench
PRELIMS SCORING: Understanding of the problem 25% · Quality and originality of the solution 25% · Feasibility (can it be built in the finals?) 30% · Open-source angle and tech choices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· THE PROBLEM
Scored under "Understanding of the problem" (25%).
• Explain the problem in your own words. Don't copy the problem statement document.
• Name a real group of people, not "everyone".
• One concrete example beats three general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· OUR SOLUTION
Scored under "Quality and originality of the solution" (25%).
• Show the user's journey, not a feature list.
• A sketch, mockup or architecture diagram works well here. You may replace the four steps with a diagram, but keep the deck at 6 slides.
• If your idea is close to another problem statement, use "What makes it different" to say how (the PS document's "How it's different" lines help).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· FINALS PLAN
Scored under "Feasibility: can it be built in the finals?" (30%), the biggest weight in the prelims.
• Start from the "Minimum demo" line of your problem statement. Hard problems also have a "Start small" tip; use it.
• Name the test kit you will demo on (TK-1 flask, TK-2 express, TK-3 fastapi, TK-S sandbox, TK-D data pack). TK-S and TK-D reach shortlisted teams on 26 Oct; their contents are listed in the PS document.
• Code is written only during the finals. You may plan, design and research in advance.
• Code freeze is 10:00 AM IST on 31 Oct, then demos and judging.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TECH STACK
Scored under "Open-source angle and tech choices" (20%), together with slide 6.
• Open models (Gemma, Llama, Mistral, Qwen and others) are encouraged and earn credit.
• Closed AI APIs are allowed, but you must name them here and in your README. AI coding assistants are allowed; every member must be able to explain the code.
• PS-03, PS-11 and PS-12: use an open model of up to 4B parameters (quantised) that runs on a laptop with 8 GB RAM.
• Your repo needs an OSI-approved license (for example MIT or Apache-2.0).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2F33-BF0C-8CAF-28E5-CD6E45FA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F733CD-A19A-D74D-13C8-CED253F1F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5105B-75D8-A2D8-D7A9-CC131BE07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TECH STACK
Scored under "Open-source angle and tech choices" (20%), together with slide 6.
• Open models (Gemma, Llama, Mistral, Qwen and others) are encouraged and earn credit.
• Closed AI APIs are allowed, but you must name them here and in your README. AI coding assistants are allowed; every member must be able to explain the code.
• PS-03, PS-11 and PS-12: use an open model of up to 4B parameters (quantised) that runs on a laptop with 8 GB RAM.
• Your repo needs an OSI-approved license (for example MIT or Apache-2.0).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B66BF-AAC5-DA3E-BB0C-82E70EF9F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04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· OPEN-SOURCE ANGLE
Scored under "Open-source angle and tech choices" (20%).
• Finals rules: public GitHub repo from the start of the finals, OSI-approved license, README with setup steps and the AI tools you used, credit for libraries and datasets.
• Show how a stranger could make their first contribution.
BEFORE YOU SUBMIT
• Every grey hint replaced or deleted
• Still 6 slides or fewer
• Shared as a view-only link, opened once in an incognito window to check it works
• Submitted through the prelims form by 23 Oct 2026, 11:59 PM 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vf8rge × Hacktoberfest Hack D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400"/>
            <a:ext cx="3487266" cy="237616"/>
          </a:xfrm>
          <a:prstGeom prst="rect">
            <a:avLst/>
          </a:prstGeom>
        </p:spPr>
      </p:pic>
      <p:pic>
        <p:nvPicPr>
          <p:cNvPr id="3" name="Image 1" descr="Newton School of Technolog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308" y="338328"/>
            <a:ext cx="1432747" cy="3657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886968"/>
            <a:ext cx="11094415" cy="0"/>
          </a:xfrm>
          <a:prstGeom prst="line">
            <a:avLst/>
          </a:prstGeom>
          <a:noFill/>
          <a:ln w="9525">
            <a:solidFill>
              <a:srgbClr val="1C2747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/>
        </p:nvSpPr>
        <p:spPr>
          <a:xfrm>
            <a:off x="10545775" y="6473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01 </a:t>
            </a:r>
            <a:r>
              <a:rPr lang="en-US" sz="1000" b="1" kern="0" spc="100">
                <a:solidFill>
                  <a:schemeClr val="bg1"/>
                </a:solidFill>
              </a:rPr>
              <a:t>/ 07</a:t>
            </a:r>
            <a:endParaRPr lang="en-US" sz="1000" dirty="0"/>
          </a:p>
        </p:txBody>
      </p:sp>
      <p:pic>
        <p:nvPicPr>
          <p:cNvPr id="3" name="Image 0" descr="Newton School of Technology · Devf8rge — Code. Create. Conquer. · Hacktoberfest Hack Day · Hosted by DevForge × Newton School of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5257800" cy="4528691"/>
          </a:xfrm>
          <a:prstGeom prst="rect">
            <a:avLst/>
          </a:prstGeom>
        </p:spPr>
      </p:pic>
      <p:sp>
        <p:nvSpPr>
          <p:cNvPr id="5" name="Team card"/>
          <p:cNvSpPr/>
          <p:nvPr/>
        </p:nvSpPr>
        <p:spPr>
          <a:xfrm>
            <a:off x="6400800" y="548640"/>
            <a:ext cx="5242255" cy="5559552"/>
          </a:xfrm>
          <a:prstGeom prst="roundRect">
            <a:avLst>
              <a:gd name="adj" fmla="val 1744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2" descr="Slide 1 · Meet the te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914400"/>
            <a:ext cx="3206252" cy="190927"/>
          </a:xfrm>
          <a:prstGeom prst="rect">
            <a:avLst/>
          </a:prstGeom>
        </p:spPr>
      </p:pic>
      <p:sp>
        <p:nvSpPr>
          <p:cNvPr id="7" name="Label: TEAM NAME"/>
          <p:cNvSpPr txBox="1"/>
          <p:nvPr/>
        </p:nvSpPr>
        <p:spPr>
          <a:xfrm>
            <a:off x="6766560" y="1325880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TEAM NAME</a:t>
            </a:r>
            <a:endParaRPr lang="en-US" sz="1000" dirty="0"/>
          </a:p>
        </p:txBody>
      </p:sp>
      <p:sp>
        <p:nvSpPr>
          <p:cNvPr id="8" name="Edit me"/>
          <p:cNvSpPr txBox="1"/>
          <p:nvPr/>
        </p:nvSpPr>
        <p:spPr>
          <a:xfrm>
            <a:off x="6766560" y="1581912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800" b="1">
                <a:solidFill>
                  <a:schemeClr val="bg1"/>
                </a:solidFill>
              </a:rPr>
              <a:t>No Name</a:t>
            </a:r>
            <a:endParaRPr lang="en-US" sz="2800" dirty="0"/>
          </a:p>
        </p:txBody>
      </p:sp>
      <p:sp>
        <p:nvSpPr>
          <p:cNvPr id="9" name="Divider"/>
          <p:cNvSpPr/>
          <p:nvPr/>
        </p:nvSpPr>
        <p:spPr>
          <a:xfrm>
            <a:off x="6766560" y="2331720"/>
            <a:ext cx="45107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Label: TRACK"/>
          <p:cNvSpPr txBox="1"/>
          <p:nvPr/>
        </p:nvSpPr>
        <p:spPr>
          <a:xfrm>
            <a:off x="6766560" y="2459737"/>
            <a:ext cx="21410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chemeClr val="accent3"/>
                </a:solidFill>
              </a:rPr>
              <a:t>THEME</a:t>
            </a:r>
            <a:endParaRPr lang="en-US" sz="1000" dirty="0"/>
          </a:p>
        </p:txBody>
      </p:sp>
      <p:sp>
        <p:nvSpPr>
          <p:cNvPr id="13" name="Edit me"/>
          <p:cNvSpPr txBox="1"/>
          <p:nvPr/>
        </p:nvSpPr>
        <p:spPr>
          <a:xfrm>
            <a:off x="6766560" y="2795639"/>
            <a:ext cx="21410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THEME 3 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Developer Productivity</a:t>
            </a:r>
            <a:endParaRPr lang="en-US" sz="1400" dirty="0"/>
          </a:p>
        </p:txBody>
      </p:sp>
      <p:sp>
        <p:nvSpPr>
          <p:cNvPr id="14" name="Divider"/>
          <p:cNvSpPr/>
          <p:nvPr/>
        </p:nvSpPr>
        <p:spPr>
          <a:xfrm>
            <a:off x="6766560" y="3493008"/>
            <a:ext cx="45107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5" name="Label: TEAM MEMBERS (2–4)"/>
          <p:cNvSpPr txBox="1"/>
          <p:nvPr/>
        </p:nvSpPr>
        <p:spPr>
          <a:xfrm>
            <a:off x="6766560" y="3694176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TEAM MEMBERS (2–4)</a:t>
            </a:r>
            <a:endParaRPr lang="en-US" sz="1000" dirty="0"/>
          </a:p>
        </p:txBody>
      </p:sp>
      <p:graphicFrame>
        <p:nvGraphicFramePr>
          <p:cNvPr id="16" name="Memb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48996"/>
              </p:ext>
            </p:extLst>
          </p:nvPr>
        </p:nvGraphicFramePr>
        <p:xfrm>
          <a:off x="6766560" y="3986784"/>
          <a:ext cx="4510735" cy="1755648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8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50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50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95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50" dirty="0">
                          <a:solidFill>
                            <a:schemeClr val="bg1"/>
                          </a:solidFill>
                        </a:rPr>
                        <a:t>COLLEGE</a:t>
                      </a:r>
                      <a:endParaRPr lang="en-US" sz="95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50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95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Shivaraj S Hiremath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PESCE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CLI / review UX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Sudhanshu Singh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PESCE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Git and patch engine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Anamika Manhas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PESCE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AI / presenter</a:t>
                      </a: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T="0" marB="0" anchor="ctr">
                    <a:lnL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32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/>
        </p:nvSpPr>
        <p:spPr>
          <a:xfrm>
            <a:off x="10545775" y="6473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02 </a:t>
            </a:r>
            <a:r>
              <a:rPr lang="en-US" sz="1000" b="1" kern="0" spc="100">
                <a:solidFill>
                  <a:schemeClr val="bg1"/>
                </a:solidFill>
              </a:rPr>
              <a:t>/ 07</a:t>
            </a:r>
            <a:endParaRPr lang="en-US" sz="1000" dirty="0"/>
          </a:p>
        </p:txBody>
      </p:sp>
      <p:pic>
        <p:nvPicPr>
          <p:cNvPr id="3" name="Image 0" descr="Slide 2 · Who &amp; w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0704"/>
            <a:ext cx="2692725" cy="194219"/>
          </a:xfrm>
          <a:prstGeom prst="rect">
            <a:avLst/>
          </a:prstGeom>
        </p:spPr>
      </p:pic>
      <p:pic>
        <p:nvPicPr>
          <p:cNvPr id="4" name="Image 1" descr="The Probl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4051524" cy="362102"/>
          </a:xfrm>
          <a:prstGeom prst="rect">
            <a:avLst/>
          </a:prstGeom>
        </p:spPr>
      </p:pic>
      <p:sp>
        <p:nvSpPr>
          <p:cNvPr id="5" name="Slide guidance"/>
          <p:cNvSpPr txBox="1"/>
          <p:nvPr/>
        </p:nvSpPr>
        <p:spPr>
          <a:xfrm>
            <a:off x="548640" y="1947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New contributors mix unrelated edits into one commit, making pull requests harder to review.</a:t>
            </a:r>
            <a:endParaRPr lang="en-US" sz="1400" dirty="0"/>
          </a:p>
        </p:txBody>
      </p:sp>
      <p:sp>
        <p:nvSpPr>
          <p:cNvPr id="6" name="Hero: THE PROBLEM IN ONE LINE"/>
          <p:cNvSpPr/>
          <p:nvPr/>
        </p:nvSpPr>
        <p:spPr>
          <a:xfrm>
            <a:off x="548640" y="246888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ape"/>
          <p:cNvSpPr/>
          <p:nvPr/>
        </p:nvSpPr>
        <p:spPr>
          <a:xfrm rot="180000">
            <a:off x="10454335" y="2404872"/>
            <a:ext cx="868680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Label: THE PROBLEM IN ONE LINE"/>
          <p:cNvSpPr txBox="1"/>
          <p:nvPr/>
        </p:nvSpPr>
        <p:spPr>
          <a:xfrm>
            <a:off x="868680" y="26746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1"/>
                </a:solidFill>
              </a:rPr>
              <a:t>THE PROBLEM IN ONE LINE</a:t>
            </a:r>
            <a:endParaRPr lang="en-US" sz="1000" dirty="0"/>
          </a:p>
        </p:txBody>
      </p:sp>
      <p:sp>
        <p:nvSpPr>
          <p:cNvPr id="9" name="Edit me"/>
          <p:cNvSpPr txBox="1"/>
          <p:nvPr/>
        </p:nvSpPr>
        <p:spPr>
          <a:xfrm>
            <a:off x="868680" y="2999232"/>
            <a:ext cx="10682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300"/>
              </a:spcAft>
              <a:buNone/>
            </a:pPr>
            <a:r>
              <a:rPr lang="en-US" sz="1400" b="1">
                <a:solidFill>
                  <a:srgbClr val="0B1020"/>
                </a:solidFill>
              </a:rPr>
              <a:t>New contributors struggle to split mixed code changes into clear, reviewable PRs, which cost maintainers time and trust.</a:t>
            </a:r>
            <a:endParaRPr lang="en-US" sz="1400" dirty="0"/>
          </a:p>
        </p:txBody>
      </p:sp>
      <p:sp>
        <p:nvSpPr>
          <p:cNvPr id="10" name="Card: WHO FACES IT"/>
          <p:cNvSpPr/>
          <p:nvPr/>
        </p:nvSpPr>
        <p:spPr>
          <a:xfrm>
            <a:off x="548640" y="3840480"/>
            <a:ext cx="3545738" cy="2267712"/>
          </a:xfrm>
          <a:prstGeom prst="roundRect">
            <a:avLst>
              <a:gd name="adj" fmla="val 403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Icon tile"/>
          <p:cNvSpPr/>
          <p:nvPr/>
        </p:nvSpPr>
        <p:spPr>
          <a:xfrm>
            <a:off x="822960" y="41148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219956"/>
            <a:ext cx="210312" cy="210312"/>
          </a:xfrm>
          <a:prstGeom prst="rect">
            <a:avLst/>
          </a:prstGeom>
        </p:spPr>
      </p:pic>
      <p:sp>
        <p:nvSpPr>
          <p:cNvPr id="13" name="Label: WHO FACES IT"/>
          <p:cNvSpPr txBox="1"/>
          <p:nvPr/>
        </p:nvSpPr>
        <p:spPr>
          <a:xfrm>
            <a:off x="1408176" y="42062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WHO FACES IT</a:t>
            </a:r>
            <a:endParaRPr lang="en-US" sz="1000" dirty="0"/>
          </a:p>
        </p:txBody>
      </p:sp>
      <p:sp>
        <p:nvSpPr>
          <p:cNvPr id="14" name="Edit me"/>
          <p:cNvSpPr txBox="1"/>
          <p:nvPr/>
        </p:nvSpPr>
        <p:spPr>
          <a:xfrm>
            <a:off x="822960" y="4718304"/>
            <a:ext cx="2997098" cy="1262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First-time open-source contributors.
 Developers working on unfamiliar codebases. 
•Maintainers </a:t>
            </a:r>
            <a:r>
              <a:rPr lang="en-US" sz="1300" dirty="0">
                <a:solidFill>
                  <a:schemeClr val="accent4"/>
                </a:solidFill>
              </a:rPr>
              <a:t>of </a:t>
            </a:r>
            <a:r>
              <a:rPr lang="en-US" sz="1300">
                <a:solidFill>
                  <a:schemeClr val="accent4"/>
                </a:solidFill>
              </a:rPr>
              <a:t>small projects.</a:t>
            </a:r>
            <a:endParaRPr lang="en-US" sz="1300" dirty="0"/>
          </a:p>
        </p:txBody>
      </p:sp>
      <p:sp>
        <p:nvSpPr>
          <p:cNvPr id="15" name="Card: WHY IT MATTERS"/>
          <p:cNvSpPr/>
          <p:nvPr/>
        </p:nvSpPr>
        <p:spPr>
          <a:xfrm>
            <a:off x="4322978" y="3840480"/>
            <a:ext cx="3545738" cy="2267712"/>
          </a:xfrm>
          <a:prstGeom prst="roundRect">
            <a:avLst>
              <a:gd name="adj" fmla="val 403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Icon tile"/>
          <p:cNvSpPr/>
          <p:nvPr/>
        </p:nvSpPr>
        <p:spPr>
          <a:xfrm>
            <a:off x="4597298" y="41148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454" y="4219956"/>
            <a:ext cx="210312" cy="210312"/>
          </a:xfrm>
          <a:prstGeom prst="rect">
            <a:avLst/>
          </a:prstGeom>
        </p:spPr>
      </p:pic>
      <p:sp>
        <p:nvSpPr>
          <p:cNvPr id="18" name="Label: WHY IT MATTERS"/>
          <p:cNvSpPr txBox="1"/>
          <p:nvPr/>
        </p:nvSpPr>
        <p:spPr>
          <a:xfrm>
            <a:off x="5182514" y="42062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19" name="Edit me"/>
          <p:cNvSpPr txBox="1"/>
          <p:nvPr/>
        </p:nvSpPr>
        <p:spPr>
          <a:xfrm>
            <a:off x="4597297" y="4718304"/>
            <a:ext cx="3156441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lnSpc>
                <a:spcPct val="14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Reviewers must untangle unrelated edits.
Intent is unclear.
Useful </a:t>
            </a:r>
            <a:r>
              <a:rPr lang="en-US" sz="1300" dirty="0">
                <a:solidFill>
                  <a:schemeClr val="accent4"/>
                </a:solidFill>
              </a:rPr>
              <a:t>fixes take longer </a:t>
            </a:r>
            <a:r>
              <a:rPr lang="en-US" sz="1300">
                <a:solidFill>
                  <a:schemeClr val="accent4"/>
                </a:solidFill>
              </a:rPr>
              <a:t>to merge.</a:t>
            </a:r>
            <a:endParaRPr lang="en-US" sz="1300" dirty="0"/>
          </a:p>
        </p:txBody>
      </p:sp>
      <p:sp>
        <p:nvSpPr>
          <p:cNvPr id="20" name="Card: PROOF IT'S REAL"/>
          <p:cNvSpPr/>
          <p:nvPr/>
        </p:nvSpPr>
        <p:spPr>
          <a:xfrm>
            <a:off x="8097317" y="3840480"/>
            <a:ext cx="3545738" cy="2267712"/>
          </a:xfrm>
          <a:prstGeom prst="roundRect">
            <a:avLst>
              <a:gd name="adj" fmla="val 403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Icon tile"/>
          <p:cNvSpPr/>
          <p:nvPr/>
        </p:nvSpPr>
        <p:spPr>
          <a:xfrm>
            <a:off x="8371637" y="41148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793" y="4219956"/>
            <a:ext cx="210312" cy="210312"/>
          </a:xfrm>
          <a:prstGeom prst="rect">
            <a:avLst/>
          </a:prstGeom>
        </p:spPr>
      </p:pic>
      <p:sp>
        <p:nvSpPr>
          <p:cNvPr id="23" name="Label: PROOF IT&amp;apos;S REAL"/>
          <p:cNvSpPr txBox="1"/>
          <p:nvPr/>
        </p:nvSpPr>
        <p:spPr>
          <a:xfrm>
            <a:off x="8956853" y="42062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PROOF IT'S REAL</a:t>
            </a:r>
            <a:endParaRPr lang="en-US" sz="1000" dirty="0"/>
          </a:p>
        </p:txBody>
      </p:sp>
      <p:sp>
        <p:nvSpPr>
          <p:cNvPr id="24" name="Edit me"/>
          <p:cNvSpPr txBox="1"/>
          <p:nvPr/>
        </p:nvSpPr>
        <p:spPr>
          <a:xfrm>
            <a:off x="8371637" y="4718304"/>
            <a:ext cx="299709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lnSpc>
                <a:spcPct val="14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Many contributors struggle to write meaningful commit messages.</a:t>
            </a:r>
          </a:p>
          <a:p>
            <a:pPr marL="144000" indent="-144000">
              <a:lnSpc>
                <a:spcPct val="14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Maintainers lack visibility into intent behind individual code changes.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/>
        </p:nvSpPr>
        <p:spPr>
          <a:xfrm>
            <a:off x="10545775" y="6473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03 </a:t>
            </a:r>
            <a:r>
              <a:rPr lang="en-US" sz="1000" b="1" kern="0" spc="100">
                <a:solidFill>
                  <a:schemeClr val="bg1"/>
                </a:solidFill>
              </a:rPr>
              <a:t>/ 07</a:t>
            </a:r>
            <a:endParaRPr lang="en-US" sz="1000" dirty="0"/>
          </a:p>
        </p:txBody>
      </p:sp>
      <p:pic>
        <p:nvPicPr>
          <p:cNvPr id="3" name="Image 0" descr="Slide 3 · What we'll bui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0704"/>
            <a:ext cx="3634191" cy="190927"/>
          </a:xfrm>
          <a:prstGeom prst="rect">
            <a:avLst/>
          </a:prstGeom>
        </p:spPr>
      </p:pic>
      <p:pic>
        <p:nvPicPr>
          <p:cNvPr id="4" name="Image 1" descr="Our Sol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4317065" cy="362102"/>
          </a:xfrm>
          <a:prstGeom prst="rect">
            <a:avLst/>
          </a:prstGeom>
        </p:spPr>
      </p:pic>
      <p:sp>
        <p:nvSpPr>
          <p:cNvPr id="5" name="Slide guidance"/>
          <p:cNvSpPr txBox="1"/>
          <p:nvPr/>
        </p:nvSpPr>
        <p:spPr>
          <a:xfrm>
            <a:off x="548640" y="1947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Hero: ONE-LINE PITCH"/>
          <p:cNvSpPr/>
          <p:nvPr/>
        </p:nvSpPr>
        <p:spPr>
          <a:xfrm>
            <a:off x="548640" y="2468880"/>
            <a:ext cx="11094415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ape"/>
          <p:cNvSpPr/>
          <p:nvPr/>
        </p:nvSpPr>
        <p:spPr>
          <a:xfrm rot="180000">
            <a:off x="10454335" y="2404872"/>
            <a:ext cx="868680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Label: ONE-LINE PITCH"/>
          <p:cNvSpPr txBox="1"/>
          <p:nvPr/>
        </p:nvSpPr>
        <p:spPr>
          <a:xfrm>
            <a:off x="868680" y="2696545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1"/>
                </a:solidFill>
              </a:rPr>
              <a:t>ONE-LINE PITCH</a:t>
            </a:r>
            <a:endParaRPr lang="en-US" sz="1000" dirty="0"/>
          </a:p>
        </p:txBody>
      </p:sp>
      <p:sp>
        <p:nvSpPr>
          <p:cNvPr id="9" name="Edit me"/>
          <p:cNvSpPr txBox="1"/>
          <p:nvPr/>
        </p:nvSpPr>
        <p:spPr>
          <a:xfrm>
            <a:off x="868680" y="3017520"/>
            <a:ext cx="10454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>
                <a:solidFill>
                  <a:srgbClr val="0B1020"/>
                </a:solidFill>
              </a:rPr>
              <a:t>CommitCraft helps contributors turn messy code changes into clean commits and PRs using local AI</a:t>
            </a:r>
            <a:endParaRPr lang="en-US" sz="1700" dirty="0"/>
          </a:p>
        </p:txBody>
      </p:sp>
      <p:sp>
        <p:nvSpPr>
          <p:cNvPr id="10" name="Step 1"/>
          <p:cNvSpPr/>
          <p:nvPr/>
        </p:nvSpPr>
        <p:spPr>
          <a:xfrm>
            <a:off x="548640" y="374904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Icon tile"/>
          <p:cNvSpPr/>
          <p:nvPr/>
        </p:nvSpPr>
        <p:spPr>
          <a:xfrm>
            <a:off x="822960" y="402336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Label: STEP 1"/>
          <p:cNvSpPr txBox="1"/>
          <p:nvPr/>
        </p:nvSpPr>
        <p:spPr>
          <a:xfrm>
            <a:off x="1408176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STEP 1</a:t>
            </a:r>
            <a:endParaRPr lang="en-US" sz="1000" dirty="0"/>
          </a:p>
        </p:txBody>
      </p:sp>
      <p:sp>
        <p:nvSpPr>
          <p:cNvPr id="14" name="Edit me"/>
          <p:cNvSpPr txBox="1"/>
          <p:nvPr/>
        </p:nvSpPr>
        <p:spPr>
          <a:xfrm>
            <a:off x="822960" y="4626864"/>
            <a:ext cx="205351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Install the CommitCraft CLI.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654" y="4142232"/>
            <a:ext cx="182880" cy="182880"/>
          </a:xfrm>
          <a:prstGeom prst="rect">
            <a:avLst/>
          </a:prstGeom>
        </p:spPr>
      </p:pic>
      <p:sp>
        <p:nvSpPr>
          <p:cNvPr id="16" name="Step 2"/>
          <p:cNvSpPr/>
          <p:nvPr/>
        </p:nvSpPr>
        <p:spPr>
          <a:xfrm>
            <a:off x="3379394" y="374904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tile"/>
          <p:cNvSpPr/>
          <p:nvPr/>
        </p:nvSpPr>
        <p:spPr>
          <a:xfrm>
            <a:off x="3653714" y="402336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653714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Label: STEP 2"/>
          <p:cNvSpPr txBox="1"/>
          <p:nvPr/>
        </p:nvSpPr>
        <p:spPr>
          <a:xfrm>
            <a:off x="4238930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STEP 2</a:t>
            </a:r>
            <a:endParaRPr lang="en-US" sz="1000" dirty="0"/>
          </a:p>
        </p:txBody>
      </p:sp>
      <p:sp>
        <p:nvSpPr>
          <p:cNvPr id="20" name="Edit me"/>
          <p:cNvSpPr txBox="1"/>
          <p:nvPr/>
        </p:nvSpPr>
        <p:spPr>
          <a:xfrm>
            <a:off x="3653714" y="4524601"/>
            <a:ext cx="228211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Make changes to your code and run CommitCraft in your project.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408" y="4142232"/>
            <a:ext cx="182880" cy="182880"/>
          </a:xfrm>
          <a:prstGeom prst="rect">
            <a:avLst/>
          </a:prstGeom>
        </p:spPr>
      </p:pic>
      <p:sp>
        <p:nvSpPr>
          <p:cNvPr id="22" name="Step 3"/>
          <p:cNvSpPr/>
          <p:nvPr/>
        </p:nvSpPr>
        <p:spPr>
          <a:xfrm>
            <a:off x="6210148" y="374904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Icon tile"/>
          <p:cNvSpPr/>
          <p:nvPr/>
        </p:nvSpPr>
        <p:spPr>
          <a:xfrm>
            <a:off x="6484468" y="402336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84468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Label: STEP 3"/>
          <p:cNvSpPr txBox="1"/>
          <p:nvPr/>
        </p:nvSpPr>
        <p:spPr>
          <a:xfrm>
            <a:off x="7069684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STEP 3</a:t>
            </a:r>
            <a:endParaRPr lang="en-US" sz="1000" dirty="0"/>
          </a:p>
        </p:txBody>
      </p:sp>
      <p:sp>
        <p:nvSpPr>
          <p:cNvPr id="26" name="Edit me"/>
          <p:cNvSpPr txBox="1"/>
          <p:nvPr/>
        </p:nvSpPr>
        <p:spPr>
          <a:xfrm>
            <a:off x="6484468" y="4626864"/>
            <a:ext cx="205351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Review and edit suggested commit groups.</a:t>
            </a:r>
            <a:endParaRPr lang="en-US" sz="13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161" y="4142232"/>
            <a:ext cx="182880" cy="182880"/>
          </a:xfrm>
          <a:prstGeom prst="rect">
            <a:avLst/>
          </a:prstGeom>
        </p:spPr>
      </p:pic>
      <p:sp>
        <p:nvSpPr>
          <p:cNvPr id="28" name="Step 4"/>
          <p:cNvSpPr/>
          <p:nvPr/>
        </p:nvSpPr>
        <p:spPr>
          <a:xfrm>
            <a:off x="9040901" y="3749040"/>
            <a:ext cx="2602154" cy="1463040"/>
          </a:xfrm>
          <a:prstGeom prst="roundRect">
            <a:avLst>
              <a:gd name="adj" fmla="val 625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Icon tile"/>
          <p:cNvSpPr/>
          <p:nvPr/>
        </p:nvSpPr>
        <p:spPr>
          <a:xfrm>
            <a:off x="9315221" y="402336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315221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Label: STEP 4"/>
          <p:cNvSpPr txBox="1"/>
          <p:nvPr/>
        </p:nvSpPr>
        <p:spPr>
          <a:xfrm>
            <a:off x="9900437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STEP 4</a:t>
            </a:r>
            <a:endParaRPr lang="en-US" sz="1000" dirty="0"/>
          </a:p>
        </p:txBody>
      </p:sp>
      <p:sp>
        <p:nvSpPr>
          <p:cNvPr id="32" name="Edit me"/>
          <p:cNvSpPr txBox="1"/>
          <p:nvPr/>
        </p:nvSpPr>
        <p:spPr>
          <a:xfrm>
            <a:off x="9315221" y="4626864"/>
            <a:ext cx="205351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Approve commits and get your PR description and can optionally send PRs automatically</a:t>
            </a:r>
            <a:endParaRPr lang="en-US" sz="1300" dirty="0"/>
          </a:p>
        </p:txBody>
      </p:sp>
      <p:sp>
        <p:nvSpPr>
          <p:cNvPr id="33" name="Strip: WHAT MAKES IT DIFFERENT"/>
          <p:cNvSpPr/>
          <p:nvPr/>
        </p:nvSpPr>
        <p:spPr>
          <a:xfrm>
            <a:off x="548640" y="5440680"/>
            <a:ext cx="11094415" cy="667512"/>
          </a:xfrm>
          <a:prstGeom prst="roundRect">
            <a:avLst>
              <a:gd name="adj" fmla="val 13699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Icon tile"/>
          <p:cNvSpPr/>
          <p:nvPr/>
        </p:nvSpPr>
        <p:spPr>
          <a:xfrm>
            <a:off x="822960" y="5564124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5669280"/>
            <a:ext cx="210312" cy="210312"/>
          </a:xfrm>
          <a:prstGeom prst="rect">
            <a:avLst/>
          </a:prstGeom>
        </p:spPr>
      </p:pic>
      <p:sp>
        <p:nvSpPr>
          <p:cNvPr id="36" name="Label: WHAT MAKES IT DIFFERENT"/>
          <p:cNvSpPr txBox="1"/>
          <p:nvPr/>
        </p:nvSpPr>
        <p:spPr>
          <a:xfrm>
            <a:off x="1408176" y="56555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WHAT MAKES IT DIFFERENT</a:t>
            </a:r>
            <a:endParaRPr lang="en-US" sz="1000" dirty="0"/>
          </a:p>
        </p:txBody>
      </p:sp>
      <p:sp>
        <p:nvSpPr>
          <p:cNvPr id="37" name="Edit me"/>
          <p:cNvSpPr txBox="1"/>
          <p:nvPr/>
        </p:nvSpPr>
        <p:spPr>
          <a:xfrm>
            <a:off x="4182831" y="5595849"/>
            <a:ext cx="74218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4"/>
                </a:solidFill>
              </a:rPr>
              <a:t>Splits unrelated code changes into logical commits and gives PR, entirely offline. 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/>
        </p:nvSpPr>
        <p:spPr>
          <a:xfrm>
            <a:off x="10545775" y="6473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04 </a:t>
            </a:r>
            <a:r>
              <a:rPr lang="en-US" sz="1000" b="1" kern="0" spc="100">
                <a:solidFill>
                  <a:schemeClr val="bg1"/>
                </a:solidFill>
              </a:rPr>
              <a:t>/ 07</a:t>
            </a:r>
            <a:endParaRPr lang="en-US" sz="1000" dirty="0"/>
          </a:p>
        </p:txBody>
      </p:sp>
      <p:pic>
        <p:nvPicPr>
          <p:cNvPr id="3" name="Image 0" descr="Slide 4 · The 12-hour game pl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0704"/>
            <a:ext cx="4440692" cy="197510"/>
          </a:xfrm>
          <a:prstGeom prst="rect">
            <a:avLst/>
          </a:prstGeom>
        </p:spPr>
      </p:pic>
      <p:pic>
        <p:nvPicPr>
          <p:cNvPr id="4" name="Image 1" descr="Finals Pl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3689421" cy="362102"/>
          </a:xfrm>
          <a:prstGeom prst="rect">
            <a:avLst/>
          </a:prstGeom>
        </p:spPr>
      </p:pic>
      <p:sp>
        <p:nvSpPr>
          <p:cNvPr id="5" name="Slide guidance"/>
          <p:cNvSpPr txBox="1"/>
          <p:nvPr/>
        </p:nvSpPr>
        <p:spPr>
          <a:xfrm>
            <a:off x="548640" y="1947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accent4"/>
                </a:solidFill>
              </a:rPr>
              <a:t>Minimum demo first, then stretch goals. 12-hour build: 10 PM, 30 Oct → 10 AM, 31 Oct (IST).</a:t>
            </a:r>
            <a:endParaRPr lang="en-US" sz="1400" dirty="0"/>
          </a:p>
        </p:txBody>
      </p:sp>
      <p:sp>
        <p:nvSpPr>
          <p:cNvPr id="6" name="Timeline"/>
          <p:cNvSpPr/>
          <p:nvPr/>
        </p:nvSpPr>
        <p:spPr>
          <a:xfrm>
            <a:off x="1566642" y="2944368"/>
            <a:ext cx="90584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Milestone 10 PM"/>
          <p:cNvSpPr/>
          <p:nvPr/>
        </p:nvSpPr>
        <p:spPr>
          <a:xfrm>
            <a:off x="1475202" y="2852928"/>
            <a:ext cx="182880" cy="182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246888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10 PM</a:t>
            </a:r>
            <a:endParaRPr lang="en-US" sz="1400" dirty="0"/>
          </a:p>
        </p:txBody>
      </p:sp>
      <p:sp>
        <p:nvSpPr>
          <p:cNvPr id="9" name="Edit me"/>
          <p:cNvSpPr txBox="1"/>
          <p:nvPr/>
        </p:nvSpPr>
        <p:spPr>
          <a:xfrm>
            <a:off x="548640" y="3163824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>
                <a:solidFill>
                  <a:schemeClr val="accent4"/>
                </a:solidFill>
              </a:rPr>
              <a:t>Inspect repo, setup env</a:t>
            </a:r>
          </a:p>
          <a:p>
            <a:pPr marL="0" indent="0" algn="ctr">
              <a:spcAft>
                <a:spcPts val="300"/>
              </a:spcAft>
              <a:buNone/>
            </a:pPr>
            <a:endParaRPr lang="en-US" sz="1200" dirty="0"/>
          </a:p>
        </p:txBody>
      </p:sp>
      <p:sp>
        <p:nvSpPr>
          <p:cNvPr id="10" name="Milestone 1 AM"/>
          <p:cNvSpPr/>
          <p:nvPr/>
        </p:nvSpPr>
        <p:spPr>
          <a:xfrm>
            <a:off x="3739805" y="2852928"/>
            <a:ext cx="182880" cy="182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813243" y="246888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 AM</a:t>
            </a:r>
            <a:endParaRPr lang="en-US" sz="1400" dirty="0"/>
          </a:p>
        </p:txBody>
      </p:sp>
      <p:sp>
        <p:nvSpPr>
          <p:cNvPr id="12" name="Edit me"/>
          <p:cNvSpPr txBox="1"/>
          <p:nvPr/>
        </p:nvSpPr>
        <p:spPr>
          <a:xfrm>
            <a:off x="2813243" y="3163824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>
                <a:solidFill>
                  <a:schemeClr val="accent4"/>
                </a:solidFill>
              </a:rPr>
              <a:t>Parse diffs, local model</a:t>
            </a:r>
          </a:p>
          <a:p>
            <a:pPr marL="0" indent="0" algn="ctr">
              <a:spcAft>
                <a:spcPts val="300"/>
              </a:spcAft>
              <a:buNone/>
            </a:pPr>
            <a:r>
              <a:rPr lang="en-US" sz="1200">
                <a:solidFill>
                  <a:schemeClr val="accent4"/>
                </a:solidFill>
              </a:rPr>
              <a:t>proposes groups </a:t>
            </a:r>
            <a:endParaRPr lang="en-US" sz="1200" dirty="0"/>
          </a:p>
        </p:txBody>
      </p:sp>
      <p:sp>
        <p:nvSpPr>
          <p:cNvPr id="13" name="Milestone 4 AM"/>
          <p:cNvSpPr/>
          <p:nvPr/>
        </p:nvSpPr>
        <p:spPr>
          <a:xfrm>
            <a:off x="6004408" y="2852928"/>
            <a:ext cx="182880" cy="182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77846" y="246888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 AM</a:t>
            </a:r>
            <a:endParaRPr lang="en-US" sz="1400" dirty="0"/>
          </a:p>
        </p:txBody>
      </p:sp>
      <p:sp>
        <p:nvSpPr>
          <p:cNvPr id="15" name="Edit me"/>
          <p:cNvSpPr txBox="1"/>
          <p:nvPr/>
        </p:nvSpPr>
        <p:spPr>
          <a:xfrm>
            <a:off x="5077846" y="3163824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>
                <a:solidFill>
                  <a:schemeClr val="accent4"/>
                </a:solidFill>
              </a:rPr>
              <a:t>Split mixed changes,
generate commits </a:t>
            </a:r>
            <a:r>
              <a:rPr lang="en-US" sz="1200" dirty="0">
                <a:solidFill>
                  <a:schemeClr val="accent4"/>
                </a:solidFill>
              </a:rPr>
              <a:t>and </a:t>
            </a:r>
            <a:r>
              <a:rPr lang="en-US" sz="1200">
                <a:solidFill>
                  <a:schemeClr val="accent4"/>
                </a:solidFill>
              </a:rPr>
              <a:t>PR draft</a:t>
            </a:r>
            <a:endParaRPr lang="en-US" sz="1200" dirty="0"/>
          </a:p>
        </p:txBody>
      </p:sp>
      <p:sp>
        <p:nvSpPr>
          <p:cNvPr id="16" name="Milestone 7 AM"/>
          <p:cNvSpPr/>
          <p:nvPr/>
        </p:nvSpPr>
        <p:spPr>
          <a:xfrm>
            <a:off x="8269011" y="2852928"/>
            <a:ext cx="182880" cy="182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42449" y="246888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 AM</a:t>
            </a:r>
            <a:endParaRPr lang="en-US" sz="1400" dirty="0"/>
          </a:p>
        </p:txBody>
      </p:sp>
      <p:sp>
        <p:nvSpPr>
          <p:cNvPr id="18" name="Edit me"/>
          <p:cNvSpPr txBox="1"/>
          <p:nvPr/>
        </p:nvSpPr>
        <p:spPr>
          <a:xfrm>
            <a:off x="7342449" y="3163824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>
                <a:solidFill>
                  <a:schemeClr val="accent4"/>
                </a:solidFill>
              </a:rPr>
              <a:t>Validate patches, review </a:t>
            </a:r>
            <a:r>
              <a:rPr lang="en-US" sz="1200" dirty="0">
                <a:solidFill>
                  <a:schemeClr val="accent4"/>
                </a:solidFill>
              </a:rPr>
              <a:t>UX, tests and README</a:t>
            </a:r>
            <a:endParaRPr lang="en-US" sz="1200" dirty="0"/>
          </a:p>
        </p:txBody>
      </p:sp>
      <p:sp>
        <p:nvSpPr>
          <p:cNvPr id="19" name="Milestone 10 AM"/>
          <p:cNvSpPr/>
          <p:nvPr/>
        </p:nvSpPr>
        <p:spPr>
          <a:xfrm>
            <a:off x="10487894" y="2807208"/>
            <a:ext cx="274320" cy="2743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607052" y="246888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10 AM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607052" y="3163824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Code freeze · final submission</a:t>
            </a:r>
            <a:endParaRPr lang="en-US" sz="1200" dirty="0"/>
          </a:p>
        </p:txBody>
      </p:sp>
      <p:sp>
        <p:nvSpPr>
          <p:cNvPr id="22" name="Card: MUST-WORK DEMO"/>
          <p:cNvSpPr/>
          <p:nvPr/>
        </p:nvSpPr>
        <p:spPr>
          <a:xfrm>
            <a:off x="548640" y="3840480"/>
            <a:ext cx="3545738" cy="2267712"/>
          </a:xfrm>
          <a:prstGeom prst="roundRect">
            <a:avLst>
              <a:gd name="adj" fmla="val 403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Icon tile"/>
          <p:cNvSpPr/>
          <p:nvPr/>
        </p:nvSpPr>
        <p:spPr>
          <a:xfrm>
            <a:off x="822960" y="41148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219956"/>
            <a:ext cx="210312" cy="210312"/>
          </a:xfrm>
          <a:prstGeom prst="rect">
            <a:avLst/>
          </a:prstGeom>
        </p:spPr>
      </p:pic>
      <p:sp>
        <p:nvSpPr>
          <p:cNvPr id="25" name="Label: MUST-WORK DEMO"/>
          <p:cNvSpPr txBox="1"/>
          <p:nvPr/>
        </p:nvSpPr>
        <p:spPr>
          <a:xfrm>
            <a:off x="1408176" y="42062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MUST-WORK DEMO</a:t>
            </a:r>
            <a:endParaRPr lang="en-US" sz="1000" dirty="0"/>
          </a:p>
        </p:txBody>
      </p:sp>
      <p:sp>
        <p:nvSpPr>
          <p:cNvPr id="26" name="Edit me"/>
          <p:cNvSpPr txBox="1"/>
          <p:nvPr/>
        </p:nvSpPr>
        <p:spPr>
          <a:xfrm>
            <a:off x="928116" y="4581144"/>
            <a:ext cx="314340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Split uncommitted changes into logical conventional commits
Require </a:t>
            </a:r>
            <a:r>
              <a:rPr lang="en-US" sz="1400" dirty="0">
                <a:solidFill>
                  <a:schemeClr val="accent4"/>
                </a:solidFill>
              </a:rPr>
              <a:t>approval </a:t>
            </a:r>
            <a:r>
              <a:rPr lang="en-US" sz="1400">
                <a:solidFill>
                  <a:schemeClr val="accent4"/>
                </a:solidFill>
              </a:rPr>
              <a:t>before committing</a:t>
            </a:r>
          </a:p>
          <a:p>
            <a:pPr marL="144000" indent="-144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Draft PR</a:t>
            </a:r>
            <a:endParaRPr lang="en-US" sz="1400" dirty="0"/>
          </a:p>
        </p:txBody>
      </p:sp>
      <p:sp>
        <p:nvSpPr>
          <p:cNvPr id="27" name="Divider"/>
          <p:cNvSpPr/>
          <p:nvPr/>
        </p:nvSpPr>
        <p:spPr>
          <a:xfrm>
            <a:off x="822960" y="5589789"/>
            <a:ext cx="2997098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8" name="Label: TEST KIT"/>
          <p:cNvSpPr txBox="1"/>
          <p:nvPr/>
        </p:nvSpPr>
        <p:spPr>
          <a:xfrm>
            <a:off x="822960" y="56433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TEST KIT</a:t>
            </a:r>
            <a:endParaRPr lang="en-US" sz="1000" dirty="0"/>
          </a:p>
        </p:txBody>
      </p:sp>
      <p:sp>
        <p:nvSpPr>
          <p:cNvPr id="29" name="Edit me"/>
          <p:cNvSpPr txBox="1"/>
          <p:nvPr/>
        </p:nvSpPr>
        <p:spPr>
          <a:xfrm>
            <a:off x="1691640" y="5642410"/>
            <a:ext cx="23570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TK-S | </a:t>
            </a:r>
            <a:r>
              <a:rPr lang="en-US" sz="1300" dirty="0">
                <a:solidFill>
                  <a:schemeClr val="accent4"/>
                </a:solidFill>
              </a:rPr>
              <a:t>messy-changes branch</a:t>
            </a:r>
            <a:endParaRPr lang="en-US" sz="1300" dirty="0"/>
          </a:p>
        </p:txBody>
      </p:sp>
      <p:sp>
        <p:nvSpPr>
          <p:cNvPr id="30" name="Card: STRETCH GOALS"/>
          <p:cNvSpPr/>
          <p:nvPr/>
        </p:nvSpPr>
        <p:spPr>
          <a:xfrm>
            <a:off x="4322978" y="3840480"/>
            <a:ext cx="3545738" cy="2267712"/>
          </a:xfrm>
          <a:prstGeom prst="roundRect">
            <a:avLst>
              <a:gd name="adj" fmla="val 403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1" name="Icon tile"/>
          <p:cNvSpPr/>
          <p:nvPr/>
        </p:nvSpPr>
        <p:spPr>
          <a:xfrm>
            <a:off x="4597298" y="41148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454" y="4219956"/>
            <a:ext cx="210312" cy="210312"/>
          </a:xfrm>
          <a:prstGeom prst="rect">
            <a:avLst/>
          </a:prstGeom>
        </p:spPr>
      </p:pic>
      <p:sp>
        <p:nvSpPr>
          <p:cNvPr id="33" name="Label: STRETCH GOALS"/>
          <p:cNvSpPr txBox="1"/>
          <p:nvPr/>
        </p:nvSpPr>
        <p:spPr>
          <a:xfrm>
            <a:off x="5182514" y="42062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STRETCH GOALS</a:t>
            </a:r>
            <a:endParaRPr lang="en-US" sz="1000" dirty="0"/>
          </a:p>
        </p:txBody>
      </p:sp>
      <p:sp>
        <p:nvSpPr>
          <p:cNvPr id="34" name="Edit me"/>
          <p:cNvSpPr txBox="1"/>
          <p:nvPr/>
        </p:nvSpPr>
        <p:spPr>
          <a:xfrm>
            <a:off x="4597298" y="4718304"/>
            <a:ext cx="299709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Same-file </a:t>
            </a:r>
            <a:r>
              <a:rPr lang="en-US" sz="1400" dirty="0">
                <a:solidFill>
                  <a:schemeClr val="accent4"/>
                </a:solidFill>
              </a:rPr>
              <a:t>change splitting</a:t>
            </a:r>
            <a:r>
              <a:rPr lang="en-US" sz="1400">
                <a:solidFill>
                  <a:schemeClr val="accent4"/>
                </a:solidFill>
              </a:rPr>
              <a:t>
Dependency-aware </a:t>
            </a:r>
            <a:r>
              <a:rPr lang="en-US" sz="1400" dirty="0">
                <a:solidFill>
                  <a:schemeClr val="accent4"/>
                </a:solidFill>
              </a:rPr>
              <a:t>ordering</a:t>
            </a:r>
            <a:r>
              <a:rPr lang="en-US" sz="1400">
                <a:solidFill>
                  <a:schemeClr val="accent4"/>
                </a:solidFill>
              </a:rPr>
              <a:t>
Group </a:t>
            </a:r>
            <a:r>
              <a:rPr lang="en-US" sz="1400" dirty="0">
                <a:solidFill>
                  <a:schemeClr val="accent4"/>
                </a:solidFill>
              </a:rPr>
              <a:t>explanations</a:t>
            </a:r>
            <a:r>
              <a:rPr lang="en-US" sz="1400">
                <a:solidFill>
                  <a:schemeClr val="accent4"/>
                </a:solidFill>
              </a:rPr>
              <a:t>
Review </a:t>
            </a:r>
            <a:r>
              <a:rPr lang="en-US" sz="1400" dirty="0">
                <a:solidFill>
                  <a:schemeClr val="accent4"/>
                </a:solidFill>
              </a:rPr>
              <a:t>and edit proposals</a:t>
            </a:r>
            <a:endParaRPr lang="en-US" sz="1400" dirty="0"/>
          </a:p>
        </p:txBody>
      </p:sp>
      <p:sp>
        <p:nvSpPr>
          <p:cNvPr id="35" name="Card: WHO DOES WHAT"/>
          <p:cNvSpPr/>
          <p:nvPr/>
        </p:nvSpPr>
        <p:spPr>
          <a:xfrm>
            <a:off x="8097317" y="3840480"/>
            <a:ext cx="3545738" cy="2267712"/>
          </a:xfrm>
          <a:prstGeom prst="roundRect">
            <a:avLst>
              <a:gd name="adj" fmla="val 403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Icon tile"/>
          <p:cNvSpPr/>
          <p:nvPr/>
        </p:nvSpPr>
        <p:spPr>
          <a:xfrm>
            <a:off x="8371637" y="41148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793" y="4219956"/>
            <a:ext cx="210312" cy="210312"/>
          </a:xfrm>
          <a:prstGeom prst="rect">
            <a:avLst/>
          </a:prstGeom>
        </p:spPr>
      </p:pic>
      <p:sp>
        <p:nvSpPr>
          <p:cNvPr id="38" name="Label: WHO DOES WHAT"/>
          <p:cNvSpPr txBox="1"/>
          <p:nvPr/>
        </p:nvSpPr>
        <p:spPr>
          <a:xfrm>
            <a:off x="8956853" y="42062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WHO DOES WHAT</a:t>
            </a:r>
            <a:endParaRPr lang="en-US" sz="1000" dirty="0"/>
          </a:p>
        </p:txBody>
      </p:sp>
      <p:sp>
        <p:nvSpPr>
          <p:cNvPr id="39" name="Edit me"/>
          <p:cNvSpPr txBox="1"/>
          <p:nvPr/>
        </p:nvSpPr>
        <p:spPr>
          <a:xfrm>
            <a:off x="8371637" y="4718304"/>
            <a:ext cx="299709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Shivaraj: CLI / review UX</a:t>
            </a:r>
          </a:p>
          <a:p>
            <a:pPr marL="144000" indent="-1440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Sudhanshu: Git and patch engine
Anamika: AI </a:t>
            </a:r>
            <a:r>
              <a:rPr lang="en-US" sz="1400" dirty="0">
                <a:solidFill>
                  <a:schemeClr val="accent4"/>
                </a:solidFill>
              </a:rPr>
              <a:t>/ analysis</a:t>
            </a:r>
            <a:r>
              <a:rPr lang="en-US" sz="1400">
                <a:solidFill>
                  <a:schemeClr val="accent4"/>
                </a:solidFill>
              </a:rPr>
              <a:t>
Sonali: </a:t>
            </a:r>
            <a:r>
              <a:rPr lang="en-US" sz="1400" dirty="0">
                <a:solidFill>
                  <a:schemeClr val="accent4"/>
                </a:solidFill>
              </a:rPr>
              <a:t>tests </a:t>
            </a:r>
            <a:r>
              <a:rPr lang="en-US" sz="1400">
                <a:solidFill>
                  <a:schemeClr val="accent4"/>
                </a:solidFill>
              </a:rPr>
              <a:t>/ demo</a:t>
            </a:r>
            <a:endParaRPr lang="en-US" sz="1400" dirty="0"/>
          </a:p>
          <a:p>
            <a:pPr marL="144000" indent="-1440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44000" indent="-1440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/>
        </p:nvSpPr>
        <p:spPr>
          <a:xfrm>
            <a:off x="10555106" y="6473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05 </a:t>
            </a:r>
            <a:r>
              <a:rPr lang="en-US" sz="1000" b="1" kern="0" spc="100">
                <a:solidFill>
                  <a:schemeClr val="bg1"/>
                </a:solidFill>
              </a:rPr>
              <a:t>/ 07</a:t>
            </a:r>
            <a:endParaRPr lang="en-US" sz="1000" dirty="0"/>
          </a:p>
        </p:txBody>
      </p:sp>
      <p:pic>
        <p:nvPicPr>
          <p:cNvPr id="3" name="Image 0" descr="Slide 5 · What we'll u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60704"/>
            <a:ext cx="3357677" cy="190927"/>
          </a:xfrm>
          <a:prstGeom prst="rect">
            <a:avLst/>
          </a:prstGeom>
        </p:spPr>
      </p:pic>
      <p:pic>
        <p:nvPicPr>
          <p:cNvPr id="4" name="Image 1" descr="Tech Sta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3617001" cy="362102"/>
          </a:xfrm>
          <a:prstGeom prst="rect">
            <a:avLst/>
          </a:prstGeom>
        </p:spPr>
      </p:pic>
      <p:sp>
        <p:nvSpPr>
          <p:cNvPr id="5" name="Slide guidance"/>
          <p:cNvSpPr txBox="1"/>
          <p:nvPr/>
        </p:nvSpPr>
        <p:spPr>
          <a:xfrm>
            <a:off x="548640" y="1947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Offline </a:t>
            </a:r>
            <a:r>
              <a:rPr lang="en-US" sz="1400">
                <a:solidFill>
                  <a:schemeClr val="accent4"/>
                </a:solidFill>
              </a:rPr>
              <a:t>CLI · GPU is optional</a:t>
            </a:r>
            <a:endParaRPr lang="en-US" sz="1400" dirty="0"/>
          </a:p>
        </p:txBody>
      </p:sp>
      <p:sp>
        <p:nvSpPr>
          <p:cNvPr id="6" name="Card: LANGUAGES &amp; FRAMEWORKS"/>
          <p:cNvSpPr/>
          <p:nvPr/>
        </p:nvSpPr>
        <p:spPr>
          <a:xfrm>
            <a:off x="548640" y="2468880"/>
            <a:ext cx="3545738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Icon tile"/>
          <p:cNvSpPr/>
          <p:nvPr/>
        </p:nvSpPr>
        <p:spPr>
          <a:xfrm>
            <a:off x="822960" y="27432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2848356"/>
            <a:ext cx="210312" cy="210312"/>
          </a:xfrm>
          <a:prstGeom prst="rect">
            <a:avLst/>
          </a:prstGeom>
        </p:spPr>
      </p:pic>
      <p:sp>
        <p:nvSpPr>
          <p:cNvPr id="9" name="Label: LANGUAGES &amp;amp; FRAMEWORKS"/>
          <p:cNvSpPr txBox="1"/>
          <p:nvPr/>
        </p:nvSpPr>
        <p:spPr>
          <a:xfrm>
            <a:off x="1408176" y="28346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LANGUAGES &amp; FRAMEWORKS</a:t>
            </a:r>
            <a:endParaRPr lang="en-US" sz="1000" dirty="0"/>
          </a:p>
        </p:txBody>
      </p:sp>
      <p:sp>
        <p:nvSpPr>
          <p:cNvPr id="10" name="Edit me"/>
          <p:cNvSpPr txBox="1"/>
          <p:nvPr/>
        </p:nvSpPr>
        <p:spPr>
          <a:xfrm>
            <a:off x="1408176" y="3182112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Python, Git CLI, GH CLI, PyTest,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Ollama</a:t>
            </a:r>
            <a:endParaRPr lang="en-US" sz="1300" dirty="0"/>
          </a:p>
        </p:txBody>
      </p:sp>
      <p:sp>
        <p:nvSpPr>
          <p:cNvPr id="11" name="Card: AI MODEL(S)"/>
          <p:cNvSpPr/>
          <p:nvPr/>
        </p:nvSpPr>
        <p:spPr>
          <a:xfrm>
            <a:off x="4322978" y="2468880"/>
            <a:ext cx="3545738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Icon tile"/>
          <p:cNvSpPr/>
          <p:nvPr/>
        </p:nvSpPr>
        <p:spPr>
          <a:xfrm>
            <a:off x="4597298" y="27432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454" y="2848356"/>
            <a:ext cx="210312" cy="210312"/>
          </a:xfrm>
          <a:prstGeom prst="rect">
            <a:avLst/>
          </a:prstGeom>
        </p:spPr>
      </p:pic>
      <p:sp>
        <p:nvSpPr>
          <p:cNvPr id="14" name="Label: AI MODEL(S)"/>
          <p:cNvSpPr txBox="1"/>
          <p:nvPr/>
        </p:nvSpPr>
        <p:spPr>
          <a:xfrm>
            <a:off x="5182514" y="28346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AI MODEL(S)</a:t>
            </a:r>
            <a:endParaRPr lang="en-US" sz="1000" dirty="0"/>
          </a:p>
        </p:txBody>
      </p:sp>
      <p:sp>
        <p:nvSpPr>
          <p:cNvPr id="15" name="Edit me"/>
          <p:cNvSpPr txBox="1"/>
          <p:nvPr/>
        </p:nvSpPr>
        <p:spPr>
          <a:xfrm>
            <a:off x="5182514" y="3182112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Llama </a:t>
            </a:r>
            <a:r>
              <a:rPr lang="en-US" sz="1300" dirty="0">
                <a:solidFill>
                  <a:schemeClr val="accent4"/>
                </a:solidFill>
              </a:rPr>
              <a:t>3.2 </a:t>
            </a:r>
            <a:r>
              <a:rPr lang="en-US" sz="1300">
                <a:solidFill>
                  <a:schemeClr val="accent4"/>
                </a:solidFill>
              </a:rPr>
              <a:t>3B Instruct via Ollama</a:t>
            </a:r>
            <a:endParaRPr lang="en-US" sz="1300" dirty="0"/>
          </a:p>
        </p:txBody>
      </p:sp>
      <p:sp>
        <p:nvSpPr>
          <p:cNvPr id="16" name="Card: APIS &amp; SERVICES"/>
          <p:cNvSpPr/>
          <p:nvPr/>
        </p:nvSpPr>
        <p:spPr>
          <a:xfrm>
            <a:off x="8097317" y="2468880"/>
            <a:ext cx="3545738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Icon tile"/>
          <p:cNvSpPr/>
          <p:nvPr/>
        </p:nvSpPr>
        <p:spPr>
          <a:xfrm>
            <a:off x="8371637" y="274320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793" y="2848356"/>
            <a:ext cx="210312" cy="210312"/>
          </a:xfrm>
          <a:prstGeom prst="rect">
            <a:avLst/>
          </a:prstGeom>
        </p:spPr>
      </p:pic>
      <p:sp>
        <p:nvSpPr>
          <p:cNvPr id="19" name="Label: APIS &amp;amp; SERVICES"/>
          <p:cNvSpPr txBox="1"/>
          <p:nvPr/>
        </p:nvSpPr>
        <p:spPr>
          <a:xfrm>
            <a:off x="8956853" y="283464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APIS &amp; SERVICES</a:t>
            </a:r>
            <a:endParaRPr lang="en-US" sz="1000" dirty="0"/>
          </a:p>
        </p:txBody>
      </p:sp>
      <p:sp>
        <p:nvSpPr>
          <p:cNvPr id="20" name="Edit me"/>
          <p:cNvSpPr txBox="1"/>
          <p:nvPr/>
        </p:nvSpPr>
        <p:spPr>
          <a:xfrm>
            <a:off x="8956853" y="3182112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Local Ollama API, Git, GH </a:t>
            </a:r>
            <a:endParaRPr lang="en-US" sz="1300" dirty="0"/>
          </a:p>
        </p:txBody>
      </p:sp>
      <p:sp>
        <p:nvSpPr>
          <p:cNvPr id="21" name="Card: DATA &amp; TEST KIT"/>
          <p:cNvSpPr/>
          <p:nvPr/>
        </p:nvSpPr>
        <p:spPr>
          <a:xfrm>
            <a:off x="548640" y="3886200"/>
            <a:ext cx="3545738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Icon tile"/>
          <p:cNvSpPr/>
          <p:nvPr/>
        </p:nvSpPr>
        <p:spPr>
          <a:xfrm>
            <a:off x="822960" y="416052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" y="4265676"/>
            <a:ext cx="210312" cy="210312"/>
          </a:xfrm>
          <a:prstGeom prst="rect">
            <a:avLst/>
          </a:prstGeom>
        </p:spPr>
      </p:pic>
      <p:sp>
        <p:nvSpPr>
          <p:cNvPr id="24" name="Label: DATA &amp;amp; TEST KIT"/>
          <p:cNvSpPr txBox="1"/>
          <p:nvPr/>
        </p:nvSpPr>
        <p:spPr>
          <a:xfrm>
            <a:off x="1408176" y="425196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DATA &amp; TEST KIT</a:t>
            </a:r>
            <a:endParaRPr lang="en-US" sz="1000" dirty="0"/>
          </a:p>
        </p:txBody>
      </p:sp>
      <p:sp>
        <p:nvSpPr>
          <p:cNvPr id="25" name="Edit me"/>
          <p:cNvSpPr txBox="1"/>
          <p:nvPr/>
        </p:nvSpPr>
        <p:spPr>
          <a:xfrm>
            <a:off x="1408176" y="4599432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Uncommitted changes test repository</a:t>
            </a:r>
            <a:endParaRPr lang="en-US" sz="1300" dirty="0"/>
          </a:p>
        </p:txBody>
      </p:sp>
      <p:sp>
        <p:nvSpPr>
          <p:cNvPr id="26" name="Card: RUNS AS"/>
          <p:cNvSpPr/>
          <p:nvPr/>
        </p:nvSpPr>
        <p:spPr>
          <a:xfrm>
            <a:off x="4322978" y="3886200"/>
            <a:ext cx="3545738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Icon tile"/>
          <p:cNvSpPr/>
          <p:nvPr/>
        </p:nvSpPr>
        <p:spPr>
          <a:xfrm>
            <a:off x="4597298" y="416052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2454" y="4265676"/>
            <a:ext cx="210312" cy="210312"/>
          </a:xfrm>
          <a:prstGeom prst="rect">
            <a:avLst/>
          </a:prstGeom>
        </p:spPr>
      </p:pic>
      <p:sp>
        <p:nvSpPr>
          <p:cNvPr id="29" name="Label: RUNS AS"/>
          <p:cNvSpPr txBox="1"/>
          <p:nvPr/>
        </p:nvSpPr>
        <p:spPr>
          <a:xfrm>
            <a:off x="5182514" y="425196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RUNS AS</a:t>
            </a:r>
            <a:endParaRPr lang="en-US" sz="1000" dirty="0"/>
          </a:p>
        </p:txBody>
      </p:sp>
      <p:sp>
        <p:nvSpPr>
          <p:cNvPr id="30" name="Edit me"/>
          <p:cNvSpPr txBox="1"/>
          <p:nvPr/>
        </p:nvSpPr>
        <p:spPr>
          <a:xfrm>
            <a:off x="5182514" y="4599432"/>
            <a:ext cx="25525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Offline CLI with interactive review</a:t>
            </a:r>
            <a:endParaRPr lang="en-US" sz="1300" dirty="0"/>
          </a:p>
        </p:txBody>
      </p:sp>
      <p:sp>
        <p:nvSpPr>
          <p:cNvPr id="31" name="Card: OPEN-SOURCE LICENSE"/>
          <p:cNvSpPr/>
          <p:nvPr/>
        </p:nvSpPr>
        <p:spPr>
          <a:xfrm>
            <a:off x="8097317" y="3886200"/>
            <a:ext cx="3545738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Icon tile"/>
          <p:cNvSpPr/>
          <p:nvPr/>
        </p:nvSpPr>
        <p:spPr>
          <a:xfrm>
            <a:off x="8371637" y="416052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6793" y="4265676"/>
            <a:ext cx="210312" cy="210312"/>
          </a:xfrm>
          <a:prstGeom prst="rect">
            <a:avLst/>
          </a:prstGeom>
        </p:spPr>
      </p:pic>
      <p:sp>
        <p:nvSpPr>
          <p:cNvPr id="34" name="Label: OPEN-SOURCE LICENSE"/>
          <p:cNvSpPr txBox="1"/>
          <p:nvPr/>
        </p:nvSpPr>
        <p:spPr>
          <a:xfrm>
            <a:off x="8956853" y="4251960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OPEN-SOURCE LICENSE</a:t>
            </a:r>
            <a:endParaRPr lang="en-US" sz="1000" dirty="0"/>
          </a:p>
        </p:txBody>
      </p:sp>
      <p:sp>
        <p:nvSpPr>
          <p:cNvPr id="35" name="Edit me"/>
          <p:cNvSpPr txBox="1"/>
          <p:nvPr/>
        </p:nvSpPr>
        <p:spPr>
          <a:xfrm>
            <a:off x="8956853" y="4599432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>
                <a:solidFill>
                  <a:schemeClr val="accent4"/>
                </a:solidFill>
              </a:rPr>
              <a:t>MIT</a:t>
            </a:r>
            <a:endParaRPr lang="en-US" sz="1300" dirty="0"/>
          </a:p>
        </p:txBody>
      </p:sp>
      <p:sp>
        <p:nvSpPr>
          <p:cNvPr id="36" name="Strip: AI DISCLOSURE (REQUIRED)"/>
          <p:cNvSpPr/>
          <p:nvPr/>
        </p:nvSpPr>
        <p:spPr>
          <a:xfrm>
            <a:off x="548640" y="5303520"/>
            <a:ext cx="11094415" cy="804672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Icon tile"/>
          <p:cNvSpPr/>
          <p:nvPr/>
        </p:nvSpPr>
        <p:spPr>
          <a:xfrm>
            <a:off x="822960" y="5495544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116" y="5600700"/>
            <a:ext cx="210312" cy="210312"/>
          </a:xfrm>
          <a:prstGeom prst="rect">
            <a:avLst/>
          </a:prstGeom>
        </p:spPr>
      </p:pic>
      <p:sp>
        <p:nvSpPr>
          <p:cNvPr id="39" name="Label: AI DISCLOSURE (REQUIRED)"/>
          <p:cNvSpPr txBox="1"/>
          <p:nvPr/>
        </p:nvSpPr>
        <p:spPr>
          <a:xfrm>
            <a:off x="1408176" y="55869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1"/>
                </a:solidFill>
              </a:rPr>
              <a:t>AI DISCLOSURE (REQUIRED)</a:t>
            </a:r>
            <a:endParaRPr lang="en-US" sz="1000" dirty="0"/>
          </a:p>
        </p:txBody>
      </p:sp>
      <p:sp>
        <p:nvSpPr>
          <p:cNvPr id="40" name="Edit me"/>
          <p:cNvSpPr txBox="1"/>
          <p:nvPr/>
        </p:nvSpPr>
        <p:spPr>
          <a:xfrm>
            <a:off x="4160520" y="5513832"/>
            <a:ext cx="7208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Runtime: Llama 3.2B (local open model).</a:t>
            </a:r>
            <a:br>
              <a:rPr lang="en-US" sz="1400">
                <a:solidFill>
                  <a:schemeClr val="accent5"/>
                </a:solidFill>
              </a:rPr>
            </a:br>
            <a:r>
              <a:rPr lang="en-US" sz="1400">
                <a:solidFill>
                  <a:schemeClr val="accent5"/>
                </a:solidFill>
              </a:rPr>
              <a:t>AI Coding assistants: Antigravity (Gemini), Chatgpt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B971-8022-E9EF-9DF9-196A23A9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4E259CF3-299C-3935-72FE-19F54F82D185}"/>
              </a:ext>
            </a:extLst>
          </p:cNvPr>
          <p:cNvSpPr txBox="1"/>
          <p:nvPr/>
        </p:nvSpPr>
        <p:spPr>
          <a:xfrm>
            <a:off x="10545775" y="6473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chemeClr val="bg1"/>
                </a:solidFill>
              </a:rPr>
              <a:t>06 / 07</a:t>
            </a:r>
            <a:endParaRPr lang="en-US" sz="1000" dirty="0"/>
          </a:p>
        </p:txBody>
      </p:sp>
      <p:sp>
        <p:nvSpPr>
          <p:cNvPr id="6" name="Card: LANGUAGES &amp; FRAMEWORKS">
            <a:extLst>
              <a:ext uri="{FF2B5EF4-FFF2-40B4-BE49-F238E27FC236}">
                <a16:creationId xmlns:a16="http://schemas.microsoft.com/office/drawing/2014/main" id="{27CAC2C9-690F-23F2-3A89-171E3FD15425}"/>
              </a:ext>
            </a:extLst>
          </p:cNvPr>
          <p:cNvSpPr/>
          <p:nvPr/>
        </p:nvSpPr>
        <p:spPr>
          <a:xfrm>
            <a:off x="548640" y="1891484"/>
            <a:ext cx="3545738" cy="1444859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Label: LANGUAGES &amp;amp; FRAMEWORKS">
            <a:extLst>
              <a:ext uri="{FF2B5EF4-FFF2-40B4-BE49-F238E27FC236}">
                <a16:creationId xmlns:a16="http://schemas.microsoft.com/office/drawing/2014/main" id="{31B8EAE7-C472-E92C-A809-F38D23570DAD}"/>
              </a:ext>
            </a:extLst>
          </p:cNvPr>
          <p:cNvSpPr txBox="1"/>
          <p:nvPr/>
        </p:nvSpPr>
        <p:spPr>
          <a:xfrm>
            <a:off x="1528115" y="2017021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chemeClr val="accent3"/>
                </a:solidFill>
              </a:rPr>
              <a:t>Isolate and Extract</a:t>
            </a:r>
            <a:endParaRPr lang="en-US" sz="1000" dirty="0"/>
          </a:p>
        </p:txBody>
      </p:sp>
      <p:sp>
        <p:nvSpPr>
          <p:cNvPr id="10" name="Edit me">
            <a:extLst>
              <a:ext uri="{FF2B5EF4-FFF2-40B4-BE49-F238E27FC236}">
                <a16:creationId xmlns:a16="http://schemas.microsoft.com/office/drawing/2014/main" id="{D7C809FB-0581-AF87-35AB-1426B5E2D61E}"/>
              </a:ext>
            </a:extLst>
          </p:cNvPr>
          <p:cNvSpPr txBox="1"/>
          <p:nvPr/>
        </p:nvSpPr>
        <p:spPr>
          <a:xfrm>
            <a:off x="812345" y="2436492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Sandbox Snapshot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Hunk-Level Splitting</a:t>
            </a:r>
          </a:p>
        </p:txBody>
      </p:sp>
      <p:sp>
        <p:nvSpPr>
          <p:cNvPr id="11" name="Card: AI MODEL(S)">
            <a:extLst>
              <a:ext uri="{FF2B5EF4-FFF2-40B4-BE49-F238E27FC236}">
                <a16:creationId xmlns:a16="http://schemas.microsoft.com/office/drawing/2014/main" id="{C4806DC0-8E08-9520-F292-F2EC1B8960EA}"/>
              </a:ext>
            </a:extLst>
          </p:cNvPr>
          <p:cNvSpPr/>
          <p:nvPr/>
        </p:nvSpPr>
        <p:spPr>
          <a:xfrm>
            <a:off x="4322978" y="1891484"/>
            <a:ext cx="3545738" cy="1444859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Label: AI MODEL(S)">
            <a:extLst>
              <a:ext uri="{FF2B5EF4-FFF2-40B4-BE49-F238E27FC236}">
                <a16:creationId xmlns:a16="http://schemas.microsoft.com/office/drawing/2014/main" id="{10617856-F9AD-61EE-F7DD-241D1A1BCD10}"/>
              </a:ext>
            </a:extLst>
          </p:cNvPr>
          <p:cNvSpPr txBox="1"/>
          <p:nvPr/>
        </p:nvSpPr>
        <p:spPr>
          <a:xfrm>
            <a:off x="5182514" y="2013528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chemeClr val="accent3"/>
                </a:solidFill>
              </a:rPr>
              <a:t>AI Semantic Grouping</a:t>
            </a:r>
            <a:endParaRPr lang="en-US" sz="1000" dirty="0"/>
          </a:p>
        </p:txBody>
      </p:sp>
      <p:sp>
        <p:nvSpPr>
          <p:cNvPr id="15" name="Edit me">
            <a:extLst>
              <a:ext uri="{FF2B5EF4-FFF2-40B4-BE49-F238E27FC236}">
                <a16:creationId xmlns:a16="http://schemas.microsoft.com/office/drawing/2014/main" id="{4869910E-3FD6-60CD-7170-B8B703497D58}"/>
              </a:ext>
            </a:extLst>
          </p:cNvPr>
          <p:cNvSpPr txBox="1"/>
          <p:nvPr/>
        </p:nvSpPr>
        <p:spPr>
          <a:xfrm>
            <a:off x="4783953" y="2436492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Local Llama 3.2 3B (offline)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DAG Ordering</a:t>
            </a:r>
            <a:endParaRPr lang="en-US" sz="1300" dirty="0"/>
          </a:p>
        </p:txBody>
      </p:sp>
      <p:sp>
        <p:nvSpPr>
          <p:cNvPr id="16" name="Card: APIS &amp; SERVICES">
            <a:extLst>
              <a:ext uri="{FF2B5EF4-FFF2-40B4-BE49-F238E27FC236}">
                <a16:creationId xmlns:a16="http://schemas.microsoft.com/office/drawing/2014/main" id="{46632060-EEF7-2521-CE26-7CD284001CC5}"/>
              </a:ext>
            </a:extLst>
          </p:cNvPr>
          <p:cNvSpPr/>
          <p:nvPr/>
        </p:nvSpPr>
        <p:spPr>
          <a:xfrm>
            <a:off x="8097317" y="1891484"/>
            <a:ext cx="3545738" cy="1444859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Label: APIS &amp;amp; SERVICES">
            <a:extLst>
              <a:ext uri="{FF2B5EF4-FFF2-40B4-BE49-F238E27FC236}">
                <a16:creationId xmlns:a16="http://schemas.microsoft.com/office/drawing/2014/main" id="{BF8D50A6-C4A7-9870-C40C-FAFB2282D6BB}"/>
              </a:ext>
            </a:extLst>
          </p:cNvPr>
          <p:cNvSpPr txBox="1"/>
          <p:nvPr/>
        </p:nvSpPr>
        <p:spPr>
          <a:xfrm>
            <a:off x="8956853" y="1962504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chemeClr val="accent3"/>
                </a:solidFill>
              </a:rPr>
              <a:t>Mathematical Verification</a:t>
            </a:r>
            <a:endParaRPr lang="en-US" sz="1000" dirty="0"/>
          </a:p>
        </p:txBody>
      </p:sp>
      <p:sp>
        <p:nvSpPr>
          <p:cNvPr id="20" name="Edit me">
            <a:extLst>
              <a:ext uri="{FF2B5EF4-FFF2-40B4-BE49-F238E27FC236}">
                <a16:creationId xmlns:a16="http://schemas.microsoft.com/office/drawing/2014/main" id="{88CEC5EF-7385-A3EE-77D7-93E1C919FAD9}"/>
              </a:ext>
            </a:extLst>
          </p:cNvPr>
          <p:cNvSpPr txBox="1"/>
          <p:nvPr/>
        </p:nvSpPr>
        <p:spPr>
          <a:xfrm>
            <a:off x="8581949" y="2450308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Preflight Dry Run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Tree-Equlaity Invariant</a:t>
            </a:r>
            <a:endParaRPr lang="en-US" sz="1300" dirty="0"/>
          </a:p>
        </p:txBody>
      </p:sp>
      <p:sp>
        <p:nvSpPr>
          <p:cNvPr id="21" name="Card: DATA &amp; TEST KIT">
            <a:extLst>
              <a:ext uri="{FF2B5EF4-FFF2-40B4-BE49-F238E27FC236}">
                <a16:creationId xmlns:a16="http://schemas.microsoft.com/office/drawing/2014/main" id="{B8952304-0439-DD6D-5E64-203159C74453}"/>
              </a:ext>
            </a:extLst>
          </p:cNvPr>
          <p:cNvSpPr/>
          <p:nvPr/>
        </p:nvSpPr>
        <p:spPr>
          <a:xfrm>
            <a:off x="548640" y="4163756"/>
            <a:ext cx="3545738" cy="1444859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Label: DATA &amp;amp; TEST KIT">
            <a:extLst>
              <a:ext uri="{FF2B5EF4-FFF2-40B4-BE49-F238E27FC236}">
                <a16:creationId xmlns:a16="http://schemas.microsoft.com/office/drawing/2014/main" id="{21529A8E-804E-3CC5-165C-0E1BC0734B2F}"/>
              </a:ext>
            </a:extLst>
          </p:cNvPr>
          <p:cNvSpPr txBox="1"/>
          <p:nvPr/>
        </p:nvSpPr>
        <p:spPr>
          <a:xfrm>
            <a:off x="1523544" y="4233377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chemeClr val="accent3"/>
                </a:solidFill>
              </a:rPr>
              <a:t>Atomic Execution</a:t>
            </a:r>
            <a:endParaRPr lang="en-US" sz="1000" dirty="0"/>
          </a:p>
        </p:txBody>
      </p:sp>
      <p:sp>
        <p:nvSpPr>
          <p:cNvPr id="25" name="Edit me">
            <a:extLst>
              <a:ext uri="{FF2B5EF4-FFF2-40B4-BE49-F238E27FC236}">
                <a16:creationId xmlns:a16="http://schemas.microsoft.com/office/drawing/2014/main" id="{CC99917C-B05B-C067-06F1-55ECAE39C709}"/>
              </a:ext>
            </a:extLst>
          </p:cNvPr>
          <p:cNvSpPr txBox="1"/>
          <p:nvPr/>
        </p:nvSpPr>
        <p:spPr>
          <a:xfrm>
            <a:off x="822960" y="4618249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Creating new branches per commit group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Crafting commits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300">
              <a:solidFill>
                <a:schemeClr val="accent4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sp>
        <p:nvSpPr>
          <p:cNvPr id="26" name="Card: RUNS AS">
            <a:extLst>
              <a:ext uri="{FF2B5EF4-FFF2-40B4-BE49-F238E27FC236}">
                <a16:creationId xmlns:a16="http://schemas.microsoft.com/office/drawing/2014/main" id="{B2FE1C6C-A777-3556-4446-56FE908BFF5D}"/>
              </a:ext>
            </a:extLst>
          </p:cNvPr>
          <p:cNvSpPr/>
          <p:nvPr/>
        </p:nvSpPr>
        <p:spPr>
          <a:xfrm>
            <a:off x="4322978" y="4163756"/>
            <a:ext cx="3545738" cy="1444859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Label: RUNS AS">
            <a:extLst>
              <a:ext uri="{FF2B5EF4-FFF2-40B4-BE49-F238E27FC236}">
                <a16:creationId xmlns:a16="http://schemas.microsoft.com/office/drawing/2014/main" id="{A045894C-E562-F9FF-5B58-36AD208BAE34}"/>
              </a:ext>
            </a:extLst>
          </p:cNvPr>
          <p:cNvSpPr txBox="1"/>
          <p:nvPr/>
        </p:nvSpPr>
        <p:spPr>
          <a:xfrm>
            <a:off x="5571135" y="4227871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chemeClr val="accent3"/>
                </a:solidFill>
              </a:rPr>
              <a:t>User reviews</a:t>
            </a:r>
            <a:endParaRPr lang="en-US" sz="1000" dirty="0"/>
          </a:p>
        </p:txBody>
      </p:sp>
      <p:sp>
        <p:nvSpPr>
          <p:cNvPr id="30" name="Edit me">
            <a:extLst>
              <a:ext uri="{FF2B5EF4-FFF2-40B4-BE49-F238E27FC236}">
                <a16:creationId xmlns:a16="http://schemas.microsoft.com/office/drawing/2014/main" id="{8AB16C47-C7C1-9491-D63E-5D9A6AB20322}"/>
              </a:ext>
            </a:extLst>
          </p:cNvPr>
          <p:cNvSpPr txBox="1"/>
          <p:nvPr/>
        </p:nvSpPr>
        <p:spPr>
          <a:xfrm>
            <a:off x="4713612" y="4655299"/>
            <a:ext cx="25525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User edits/accepts the changes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User can abort if required</a:t>
            </a:r>
            <a:endParaRPr lang="en-US" sz="1300" dirty="0"/>
          </a:p>
        </p:txBody>
      </p:sp>
      <p:sp>
        <p:nvSpPr>
          <p:cNvPr id="31" name="Card: OPEN-SOURCE LICENSE">
            <a:extLst>
              <a:ext uri="{FF2B5EF4-FFF2-40B4-BE49-F238E27FC236}">
                <a16:creationId xmlns:a16="http://schemas.microsoft.com/office/drawing/2014/main" id="{058F9881-6EB8-23FE-94D5-8FE3815B218F}"/>
              </a:ext>
            </a:extLst>
          </p:cNvPr>
          <p:cNvSpPr/>
          <p:nvPr/>
        </p:nvSpPr>
        <p:spPr>
          <a:xfrm>
            <a:off x="8097317" y="4163756"/>
            <a:ext cx="3545738" cy="1444859"/>
          </a:xfrm>
          <a:prstGeom prst="roundRect">
            <a:avLst>
              <a:gd name="adj" fmla="val 769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Label: OPEN-SOURCE LICENSE">
            <a:extLst>
              <a:ext uri="{FF2B5EF4-FFF2-40B4-BE49-F238E27FC236}">
                <a16:creationId xmlns:a16="http://schemas.microsoft.com/office/drawing/2014/main" id="{4B2C1F4B-89DA-5D20-2685-1138A8AB12A9}"/>
              </a:ext>
            </a:extLst>
          </p:cNvPr>
          <p:cNvSpPr txBox="1"/>
          <p:nvPr/>
        </p:nvSpPr>
        <p:spPr>
          <a:xfrm>
            <a:off x="8956853" y="4234683"/>
            <a:ext cx="2411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chemeClr val="accent3"/>
                </a:solidFill>
              </a:rPr>
              <a:t>Semantic pull requests</a:t>
            </a:r>
            <a:endParaRPr lang="en-US" sz="1000" dirty="0"/>
          </a:p>
        </p:txBody>
      </p:sp>
      <p:sp>
        <p:nvSpPr>
          <p:cNvPr id="35" name="Edit me">
            <a:extLst>
              <a:ext uri="{FF2B5EF4-FFF2-40B4-BE49-F238E27FC236}">
                <a16:creationId xmlns:a16="http://schemas.microsoft.com/office/drawing/2014/main" id="{CDEAAF5C-1E05-EC1E-BB3C-583010EAB192}"/>
              </a:ext>
            </a:extLst>
          </p:cNvPr>
          <p:cNvSpPr txBox="1"/>
          <p:nvPr/>
        </p:nvSpPr>
        <p:spPr>
          <a:xfrm>
            <a:off x="8371942" y="4570663"/>
            <a:ext cx="24118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Generates PRs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accent4"/>
                </a:solidFill>
              </a:rPr>
              <a:t>Can automatically send PRs or user can manually copy paste</a:t>
            </a:r>
            <a:endParaRPr lang="en-US" sz="1300" dirty="0">
              <a:solidFill>
                <a:schemeClr val="accent4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8FD43A-F1E9-BAB0-EA5A-6E5EB885AEF9}"/>
              </a:ext>
            </a:extLst>
          </p:cNvPr>
          <p:cNvSpPr txBox="1"/>
          <p:nvPr/>
        </p:nvSpPr>
        <p:spPr>
          <a:xfrm>
            <a:off x="404406" y="1090752"/>
            <a:ext cx="6401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chemeClr val="bg2"/>
                </a:solidFill>
              </a:rPr>
              <a:t>How CommitCraft Works (Under the Hood)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128860-609B-F0FC-791A-46EE7A1C02C3}"/>
              </a:ext>
            </a:extLst>
          </p:cNvPr>
          <p:cNvSpPr txBox="1"/>
          <p:nvPr/>
        </p:nvSpPr>
        <p:spPr>
          <a:xfrm>
            <a:off x="671804" y="2081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1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/>
        </p:nvSpPr>
        <p:spPr>
          <a:xfrm>
            <a:off x="10545775" y="6473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>
                <a:solidFill>
                  <a:schemeClr val="bg1"/>
                </a:solidFill>
              </a:rPr>
              <a:t>07 / 07</a:t>
            </a:r>
            <a:endParaRPr lang="en-US" sz="1000" dirty="0"/>
          </a:p>
        </p:txBody>
      </p:sp>
      <p:pic>
        <p:nvPicPr>
          <p:cNvPr id="4" name="Image 1" descr="Open-Source 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0432"/>
            <a:ext cx="6204021" cy="362102"/>
          </a:xfrm>
          <a:prstGeom prst="rect">
            <a:avLst/>
          </a:prstGeom>
        </p:spPr>
      </p:pic>
      <p:sp>
        <p:nvSpPr>
          <p:cNvPr id="5" name="Slide guidance"/>
          <p:cNvSpPr txBox="1"/>
          <p:nvPr/>
        </p:nvSpPr>
        <p:spPr>
          <a:xfrm>
            <a:off x="548640" y="16733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accent4"/>
                </a:solidFill>
              </a:rPr>
              <a:t>How others </a:t>
            </a:r>
            <a:r>
              <a:rPr lang="en-US" sz="1400" dirty="0">
                <a:solidFill>
                  <a:schemeClr val="accent4"/>
                </a:solidFill>
              </a:rPr>
              <a:t>can </a:t>
            </a:r>
            <a:r>
              <a:rPr lang="en-US" sz="1400">
                <a:solidFill>
                  <a:schemeClr val="accent4"/>
                </a:solidFill>
              </a:rPr>
              <a:t>reuse our project </a:t>
            </a:r>
            <a:r>
              <a:rPr lang="en-US" sz="1400" dirty="0">
                <a:solidFill>
                  <a:schemeClr val="accent4"/>
                </a:solidFill>
              </a:rPr>
              <a:t>or contribute to it after the event.</a:t>
            </a:r>
            <a:endParaRPr lang="en-US" sz="1400" dirty="0"/>
          </a:p>
        </p:txBody>
      </p:sp>
      <p:sp>
        <p:nvSpPr>
          <p:cNvPr id="6" name="Repo plan card"/>
          <p:cNvSpPr/>
          <p:nvPr/>
        </p:nvSpPr>
        <p:spPr>
          <a:xfrm>
            <a:off x="548640" y="2194560"/>
            <a:ext cx="5432908" cy="3639312"/>
          </a:xfrm>
          <a:prstGeom prst="roundRect">
            <a:avLst>
              <a:gd name="adj" fmla="val 2513"/>
            </a:avLst>
          </a:prstGeom>
          <a:solidFill>
            <a:schemeClr val="bg2"/>
          </a:solidFill>
          <a:ln/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Tape"/>
          <p:cNvSpPr/>
          <p:nvPr/>
        </p:nvSpPr>
        <p:spPr>
          <a:xfrm rot="180000">
            <a:off x="4792828" y="2130552"/>
            <a:ext cx="868680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Label: REPO PLAN"/>
          <p:cNvSpPr txBox="1"/>
          <p:nvPr/>
        </p:nvSpPr>
        <p:spPr>
          <a:xfrm>
            <a:off x="868680" y="2468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1"/>
                </a:solidFill>
              </a:rPr>
              <a:t>REPO PLAN</a:t>
            </a:r>
            <a:endParaRPr lang="en-US" sz="1000" dirty="0"/>
          </a:p>
        </p:txBody>
      </p:sp>
      <p:sp>
        <p:nvSpPr>
          <p:cNvPr id="9" name="Checkbox"/>
          <p:cNvSpPr/>
          <p:nvPr/>
        </p:nvSpPr>
        <p:spPr>
          <a:xfrm>
            <a:off x="868680" y="2962656"/>
            <a:ext cx="27432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017520"/>
            <a:ext cx="164592" cy="164592"/>
          </a:xfrm>
          <a:prstGeom prst="rect">
            <a:avLst/>
          </a:prstGeom>
        </p:spPr>
      </p:pic>
      <p:sp>
        <p:nvSpPr>
          <p:cNvPr id="11" name="Row divider"/>
          <p:cNvSpPr/>
          <p:nvPr/>
        </p:nvSpPr>
        <p:spPr>
          <a:xfrm>
            <a:off x="868680" y="3374136"/>
            <a:ext cx="4792828" cy="0"/>
          </a:xfrm>
          <a:prstGeom prst="line">
            <a:avLst/>
          </a:prstGeom>
          <a:noFill/>
          <a:ln w="9525">
            <a:solidFill>
              <a:srgbClr val="D9DEEA"/>
            </a:solidFill>
            <a:prstDash val="solid"/>
          </a:ln>
        </p:spPr>
      </p:sp>
      <p:sp>
        <p:nvSpPr>
          <p:cNvPr id="12" name="Edit me"/>
          <p:cNvSpPr txBox="1"/>
          <p:nvPr/>
        </p:nvSpPr>
        <p:spPr>
          <a:xfrm>
            <a:off x="1325880" y="2907792"/>
            <a:ext cx="433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300"/>
              </a:spcAft>
            </a:pPr>
            <a:r>
              <a:rPr lang="en-US" sz="1400" dirty="0">
                <a:solidFill>
                  <a:schemeClr val="accent5"/>
                </a:solidFill>
              </a:rPr>
              <a:t>Repo: github.</a:t>
            </a:r>
            <a:r>
              <a:rPr lang="en-US" sz="1400">
                <a:solidFill>
                  <a:schemeClr val="accent5"/>
                </a:solidFill>
              </a:rPr>
              <a:t>com/Team-NoName-Devs/CommitCraft</a:t>
            </a:r>
            <a:endParaRPr lang="en-US" sz="1400" dirty="0"/>
          </a:p>
        </p:txBody>
      </p:sp>
      <p:sp>
        <p:nvSpPr>
          <p:cNvPr id="13" name="Checkbox"/>
          <p:cNvSpPr/>
          <p:nvPr/>
        </p:nvSpPr>
        <p:spPr>
          <a:xfrm>
            <a:off x="868680" y="3511296"/>
            <a:ext cx="27432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566160"/>
            <a:ext cx="164592" cy="164592"/>
          </a:xfrm>
          <a:prstGeom prst="rect">
            <a:avLst/>
          </a:prstGeom>
        </p:spPr>
      </p:pic>
      <p:sp>
        <p:nvSpPr>
          <p:cNvPr id="15" name="Row divider"/>
          <p:cNvSpPr/>
          <p:nvPr/>
        </p:nvSpPr>
        <p:spPr>
          <a:xfrm>
            <a:off x="868680" y="3922776"/>
            <a:ext cx="4792828" cy="0"/>
          </a:xfrm>
          <a:prstGeom prst="line">
            <a:avLst/>
          </a:prstGeom>
          <a:noFill/>
          <a:ln w="9525">
            <a:solidFill>
              <a:srgbClr val="D9DEEA"/>
            </a:solidFill>
            <a:prstDash val="solid"/>
          </a:ln>
        </p:spPr>
      </p:sp>
      <p:sp>
        <p:nvSpPr>
          <p:cNvPr id="16" name="Edit me"/>
          <p:cNvSpPr txBox="1"/>
          <p:nvPr/>
        </p:nvSpPr>
        <p:spPr>
          <a:xfrm>
            <a:off x="1325880" y="3456432"/>
            <a:ext cx="433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License: MIT</a:t>
            </a:r>
            <a:endParaRPr lang="en-US" sz="1400" dirty="0"/>
          </a:p>
        </p:txBody>
      </p:sp>
      <p:sp>
        <p:nvSpPr>
          <p:cNvPr id="17" name="Checkbox"/>
          <p:cNvSpPr/>
          <p:nvPr/>
        </p:nvSpPr>
        <p:spPr>
          <a:xfrm>
            <a:off x="868680" y="4059936"/>
            <a:ext cx="27432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114800"/>
            <a:ext cx="164592" cy="164592"/>
          </a:xfrm>
          <a:prstGeom prst="rect">
            <a:avLst/>
          </a:prstGeom>
        </p:spPr>
      </p:pic>
      <p:sp>
        <p:nvSpPr>
          <p:cNvPr id="19" name="Row divider"/>
          <p:cNvSpPr/>
          <p:nvPr/>
        </p:nvSpPr>
        <p:spPr>
          <a:xfrm>
            <a:off x="868680" y="4471416"/>
            <a:ext cx="4792828" cy="0"/>
          </a:xfrm>
          <a:prstGeom prst="line">
            <a:avLst/>
          </a:prstGeom>
          <a:noFill/>
          <a:ln w="9525">
            <a:solidFill>
              <a:srgbClr val="D9DEEA"/>
            </a:solidFill>
            <a:prstDash val="solid"/>
          </a:ln>
        </p:spPr>
      </p:sp>
      <p:sp>
        <p:nvSpPr>
          <p:cNvPr id="20" name="Edit me"/>
          <p:cNvSpPr txBox="1"/>
          <p:nvPr/>
        </p:nvSpPr>
        <p:spPr>
          <a:xfrm>
            <a:off x="1325880" y="4005072"/>
            <a:ext cx="433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README: setup, usage, demo</a:t>
            </a:r>
            <a:endParaRPr lang="en-US" sz="1400" dirty="0"/>
          </a:p>
        </p:txBody>
      </p:sp>
      <p:sp>
        <p:nvSpPr>
          <p:cNvPr id="21" name="Checkbox"/>
          <p:cNvSpPr/>
          <p:nvPr/>
        </p:nvSpPr>
        <p:spPr>
          <a:xfrm>
            <a:off x="868680" y="4608576"/>
            <a:ext cx="27432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663440"/>
            <a:ext cx="164592" cy="164592"/>
          </a:xfrm>
          <a:prstGeom prst="rect">
            <a:avLst/>
          </a:prstGeom>
        </p:spPr>
      </p:pic>
      <p:sp>
        <p:nvSpPr>
          <p:cNvPr id="23" name="Row divider"/>
          <p:cNvSpPr/>
          <p:nvPr/>
        </p:nvSpPr>
        <p:spPr>
          <a:xfrm>
            <a:off x="868680" y="5020056"/>
            <a:ext cx="4792828" cy="0"/>
          </a:xfrm>
          <a:prstGeom prst="line">
            <a:avLst/>
          </a:prstGeom>
          <a:noFill/>
          <a:ln w="9525">
            <a:solidFill>
              <a:srgbClr val="D9DEEA"/>
            </a:solidFill>
            <a:prstDash val="solid"/>
          </a:ln>
        </p:spPr>
      </p:sp>
      <p:sp>
        <p:nvSpPr>
          <p:cNvPr id="24" name="Edit me"/>
          <p:cNvSpPr txBox="1"/>
          <p:nvPr/>
        </p:nvSpPr>
        <p:spPr>
          <a:xfrm>
            <a:off x="1325880" y="4553712"/>
            <a:ext cx="433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Contributing: Contribution guide + 3 starter issues</a:t>
            </a:r>
            <a:endParaRPr lang="en-US" sz="1400" dirty="0"/>
          </a:p>
        </p:txBody>
      </p:sp>
      <p:sp>
        <p:nvSpPr>
          <p:cNvPr id="25" name="Checkbox"/>
          <p:cNvSpPr/>
          <p:nvPr/>
        </p:nvSpPr>
        <p:spPr>
          <a:xfrm>
            <a:off x="868680" y="5157216"/>
            <a:ext cx="27432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212080"/>
            <a:ext cx="164592" cy="164592"/>
          </a:xfrm>
          <a:prstGeom prst="rect">
            <a:avLst/>
          </a:prstGeom>
        </p:spPr>
      </p:pic>
      <p:sp>
        <p:nvSpPr>
          <p:cNvPr id="27" name="Edit me"/>
          <p:cNvSpPr txBox="1"/>
          <p:nvPr/>
        </p:nvSpPr>
        <p:spPr>
          <a:xfrm>
            <a:off x="1325880" y="5102352"/>
            <a:ext cx="43356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>
                <a:solidFill>
                  <a:schemeClr val="accent5"/>
                </a:solidFill>
              </a:rPr>
              <a:t>Open model: Llama 3.2 3B via Ollama</a:t>
            </a:r>
            <a:endParaRPr lang="en-US" sz="1400" dirty="0"/>
          </a:p>
        </p:txBody>
      </p:sp>
      <p:sp>
        <p:nvSpPr>
          <p:cNvPr id="28" name="Card: HOW OTHERS CAN CONTRIBUTE"/>
          <p:cNvSpPr/>
          <p:nvPr/>
        </p:nvSpPr>
        <p:spPr>
          <a:xfrm>
            <a:off x="6210148" y="2194560"/>
            <a:ext cx="5432908" cy="1705356"/>
          </a:xfrm>
          <a:prstGeom prst="roundRect">
            <a:avLst>
              <a:gd name="adj" fmla="val 536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Icon tile"/>
          <p:cNvSpPr/>
          <p:nvPr/>
        </p:nvSpPr>
        <p:spPr>
          <a:xfrm>
            <a:off x="6484468" y="2468880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24" y="2574036"/>
            <a:ext cx="210312" cy="210312"/>
          </a:xfrm>
          <a:prstGeom prst="rect">
            <a:avLst/>
          </a:prstGeom>
        </p:spPr>
      </p:pic>
      <p:sp>
        <p:nvSpPr>
          <p:cNvPr id="31" name="Label: HOW OTHERS CAN CONTRIBUTE"/>
          <p:cNvSpPr txBox="1"/>
          <p:nvPr/>
        </p:nvSpPr>
        <p:spPr>
          <a:xfrm>
            <a:off x="7069684" y="2560320"/>
            <a:ext cx="42990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HOW OTHERS CAN CONTRIBUTE</a:t>
            </a:r>
            <a:endParaRPr lang="en-US" sz="1000" dirty="0"/>
          </a:p>
        </p:txBody>
      </p:sp>
      <p:sp>
        <p:nvSpPr>
          <p:cNvPr id="32" name="Edit me"/>
          <p:cNvSpPr txBox="1"/>
          <p:nvPr/>
        </p:nvSpPr>
        <p:spPr>
          <a:xfrm>
            <a:off x="6484468" y="3072384"/>
            <a:ext cx="488426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Add support for more programming languages</a:t>
            </a:r>
          </a:p>
          <a:p>
            <a:pPr marL="144000" indent="-144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Improve change-grouping rules
Add patch </a:t>
            </a:r>
            <a:r>
              <a:rPr lang="en-US" sz="1400" dirty="0">
                <a:solidFill>
                  <a:schemeClr val="accent4"/>
                </a:solidFill>
              </a:rPr>
              <a:t>tests</a:t>
            </a:r>
            <a:endParaRPr lang="en-US" sz="1400" dirty="0"/>
          </a:p>
        </p:txBody>
      </p:sp>
      <p:sp>
        <p:nvSpPr>
          <p:cNvPr id="33" name="Card: WHO REUSES IT AFTER 31 OCT"/>
          <p:cNvSpPr/>
          <p:nvPr/>
        </p:nvSpPr>
        <p:spPr>
          <a:xfrm>
            <a:off x="6210148" y="4128516"/>
            <a:ext cx="5432908" cy="1705356"/>
          </a:xfrm>
          <a:prstGeom prst="roundRect">
            <a:avLst>
              <a:gd name="adj" fmla="val 5362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Icon tile"/>
          <p:cNvSpPr/>
          <p:nvPr/>
        </p:nvSpPr>
        <p:spPr>
          <a:xfrm>
            <a:off x="6484468" y="4402836"/>
            <a:ext cx="420624" cy="420624"/>
          </a:xfrm>
          <a:prstGeom prst="roundRect">
            <a:avLst>
              <a:gd name="adj" fmla="val 19565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accent1"/>
            </a:solidFill>
            <a:prstDash val="solid"/>
          </a:ln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4507992"/>
            <a:ext cx="210312" cy="210312"/>
          </a:xfrm>
          <a:prstGeom prst="rect">
            <a:avLst/>
          </a:prstGeom>
        </p:spPr>
      </p:pic>
      <p:sp>
        <p:nvSpPr>
          <p:cNvPr id="36" name="Label: WHO REUSES IT AFTER 31 OCT"/>
          <p:cNvSpPr txBox="1"/>
          <p:nvPr/>
        </p:nvSpPr>
        <p:spPr>
          <a:xfrm>
            <a:off x="7069684" y="4494276"/>
            <a:ext cx="42990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accent3"/>
                </a:solidFill>
              </a:rPr>
              <a:t>WHO REUSES IT AFTER 31 OCT</a:t>
            </a:r>
            <a:endParaRPr lang="en-US" sz="1000" dirty="0"/>
          </a:p>
        </p:txBody>
      </p:sp>
      <p:sp>
        <p:nvSpPr>
          <p:cNvPr id="37" name="Edit me"/>
          <p:cNvSpPr txBox="1"/>
          <p:nvPr/>
        </p:nvSpPr>
        <p:spPr>
          <a:xfrm>
            <a:off x="6484468" y="5006340"/>
            <a:ext cx="488426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4000" indent="-144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4"/>
                </a:solidFill>
              </a:rPr>
              <a:t>Open-source contributors and maintainers
Student developersteams
First-time </a:t>
            </a:r>
            <a:r>
              <a:rPr lang="en-US" sz="1400" dirty="0">
                <a:solidFill>
                  <a:schemeClr val="accent4"/>
                </a:solidFill>
              </a:rPr>
              <a:t>contributors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f8rge Hacktoberfest">
  <a:themeElements>
    <a:clrScheme name="Devf8rge Hacktoberfest">
      <a:dk1>
        <a:srgbClr val="05070D"/>
      </a:dk1>
      <a:lt1>
        <a:srgbClr val="FFFFFF"/>
      </a:lt1>
      <a:dk2>
        <a:srgbClr val="0E1424"/>
      </a:dk2>
      <a:lt2>
        <a:srgbClr val="F2F4F8"/>
      </a:lt2>
      <a:accent1>
        <a:srgbClr val="2B63FF"/>
      </a:accent1>
      <a:accent2>
        <a:srgbClr val="1E4FE6"/>
      </a:accent2>
      <a:accent3>
        <a:srgbClr val="8FB0FF"/>
      </a:accent3>
      <a:accent4>
        <a:srgbClr val="B4BFD8"/>
      </a:accent4>
      <a:accent5>
        <a:srgbClr val="56627F"/>
      </a:accent5>
      <a:accent6>
        <a:srgbClr val="24325E"/>
      </a:accent6>
      <a:hlink>
        <a:srgbClr val="8FB0FF"/>
      </a:hlink>
      <a:folHlink>
        <a:srgbClr val="8FB0FF"/>
      </a:folHlink>
    </a:clrScheme>
    <a:fontScheme name="Devf8rge Hacktoberfe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1572</Words>
  <Application>Microsoft Office PowerPoint</Application>
  <PresentationFormat>Widescreen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Devf8rge Hacktoberfest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DevForge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Devf8rge × Hacktoberfest Hack Day — Prelims PPT Template</dc:title>
  <dc:subject>PptxGenJS Presentation</dc:subject>
  <dc:creator>DevForge, Newton School of Technology</dc:creator>
  <cp:lastModifiedBy>Shivaraj Hiremath</cp:lastModifiedBy>
  <cp:revision>8</cp:revision>
  <dcterms:created xsi:type="dcterms:W3CDTF">2026-10-20T15:14:25Z</dcterms:created>
  <dcterms:modified xsi:type="dcterms:W3CDTF">2026-10-31T04:06:29Z</dcterms:modified>
</cp:coreProperties>
</file>